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2011680"/>
          </a:xfrm>
          <a:prstGeom prst="rect">
            <a:avLst/>
          </a:prstGeom>
          <a:solidFill>
            <a:srgbClr val="0D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0"/>
            <a:ext cx="12191695" cy="4572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
            <a:ext cx="7315200" cy="457200"/>
          </a:xfrm>
          <a:prstGeom prst="rect">
            <a:avLst/>
          </a:prstGeom>
          <a:noFill/>
        </p:spPr>
        <p:txBody>
          <a:bodyPr wrap="square">
            <a:spAutoFit/>
          </a:bodyPr>
          <a:lstStyle/>
          <a:p>
            <a:pPr algn="l"/>
            <a:r>
              <a:rPr sz="1100" b="1">
                <a:solidFill>
                  <a:srgbClr val="00CCCC"/>
                </a:solidFill>
              </a:rPr>
              <a:t>RIVA INTELLIGENCE</a:t>
            </a:r>
          </a:p>
        </p:txBody>
      </p:sp>
      <p:sp>
        <p:nvSpPr>
          <p:cNvPr id="5" name="TextBox 4"/>
          <p:cNvSpPr txBox="1"/>
          <p:nvPr/>
        </p:nvSpPr>
        <p:spPr>
          <a:xfrm>
            <a:off x="548640" y="658368"/>
            <a:ext cx="9144000" cy="640080"/>
          </a:xfrm>
          <a:prstGeom prst="rect">
            <a:avLst/>
          </a:prstGeom>
          <a:noFill/>
        </p:spPr>
        <p:txBody>
          <a:bodyPr wrap="square">
            <a:spAutoFit/>
          </a:bodyPr>
          <a:lstStyle/>
          <a:p>
            <a:pPr algn="l"/>
            <a:r>
              <a:rPr sz="3600" b="1">
                <a:solidFill>
                  <a:srgbClr val="FFFFFF"/>
                </a:solidFill>
              </a:rPr>
              <a:t>Competitive Analysis</a:t>
            </a:r>
          </a:p>
        </p:txBody>
      </p:sp>
      <p:sp>
        <p:nvSpPr>
          <p:cNvPr id="6" name="TextBox 5"/>
          <p:cNvSpPr txBox="1"/>
          <p:nvPr/>
        </p:nvSpPr>
        <p:spPr>
          <a:xfrm>
            <a:off x="548640" y="1325880"/>
            <a:ext cx="9144000" cy="502920"/>
          </a:xfrm>
          <a:prstGeom prst="rect">
            <a:avLst/>
          </a:prstGeom>
          <a:noFill/>
        </p:spPr>
        <p:txBody>
          <a:bodyPr wrap="square">
            <a:spAutoFit/>
          </a:bodyPr>
          <a:lstStyle/>
          <a:p>
            <a:pPr algn="l"/>
            <a:r>
              <a:rPr sz="2200" b="0">
                <a:solidFill>
                  <a:srgbClr val="00CCCC"/>
                </a:solidFill>
              </a:rPr>
              <a:t>Cloudflare vs Vercel</a:t>
            </a:r>
          </a:p>
        </p:txBody>
      </p:sp>
      <p:sp>
        <p:nvSpPr>
          <p:cNvPr id="7" name="TextBox 6"/>
          <p:cNvSpPr txBox="1"/>
          <p:nvPr/>
        </p:nvSpPr>
        <p:spPr>
          <a:xfrm>
            <a:off x="9144000" y="6309360"/>
            <a:ext cx="2743200" cy="365760"/>
          </a:xfrm>
          <a:prstGeom prst="rect">
            <a:avLst/>
          </a:prstGeom>
          <a:noFill/>
        </p:spPr>
        <p:txBody>
          <a:bodyPr wrap="square">
            <a:spAutoFit/>
          </a:bodyPr>
          <a:lstStyle/>
          <a:p>
            <a:pPr algn="r"/>
            <a:r>
              <a:rPr sz="1100" b="0">
                <a:solidFill>
                  <a:srgbClr val="6688AA"/>
                </a:solidFill>
              </a:rPr>
              <a:t>April 25, 2026</a:t>
            </a:r>
          </a:p>
        </p:txBody>
      </p:sp>
      <p:sp>
        <p:nvSpPr>
          <p:cNvPr id="8" name="TextBox 7"/>
          <p:cNvSpPr txBox="1"/>
          <p:nvPr/>
        </p:nvSpPr>
        <p:spPr>
          <a:xfrm>
            <a:off x="1325880" y="2468880"/>
            <a:ext cx="2743200" cy="365760"/>
          </a:xfrm>
          <a:prstGeom prst="rect">
            <a:avLst/>
          </a:prstGeom>
          <a:noFill/>
        </p:spPr>
        <p:txBody>
          <a:bodyPr wrap="square">
            <a:spAutoFit/>
          </a:bodyPr>
          <a:lstStyle/>
          <a:p>
            <a:pPr algn="l"/>
            <a:r>
              <a:rPr sz="1600" b="1">
                <a:solidFill>
                  <a:srgbClr val="FFFFFF"/>
                </a:solidFill>
              </a:rPr>
              <a:t>Cloudflare</a:t>
            </a:r>
          </a:p>
        </p:txBody>
      </p:sp>
      <p:sp>
        <p:nvSpPr>
          <p:cNvPr id="9" name="TextBox 8"/>
          <p:cNvSpPr txBox="1"/>
          <p:nvPr/>
        </p:nvSpPr>
        <p:spPr>
          <a:xfrm>
            <a:off x="1325880" y="2834640"/>
            <a:ext cx="4572000" cy="457200"/>
          </a:xfrm>
          <a:prstGeom prst="rect">
            <a:avLst/>
          </a:prstGeom>
          <a:noFill/>
        </p:spPr>
        <p:txBody>
          <a:bodyPr wrap="square">
            <a:spAutoFit/>
          </a:bodyPr>
          <a:lstStyle/>
          <a:p>
            <a:pPr algn="l"/>
            <a:r>
              <a:rPr sz="1200" b="0">
                <a:solidFill>
                  <a:srgbClr val="CCDDEE"/>
                </a:solidFill>
              </a:rPr>
              <a:t>Cloudflare provides global network services for performance, security, and reliability of internet properties.</a:t>
            </a:r>
          </a:p>
        </p:txBody>
      </p:sp>
      <p:sp>
        <p:nvSpPr>
          <p:cNvPr id="10" name="TextBox 9"/>
          <p:cNvSpPr txBox="1"/>
          <p:nvPr/>
        </p:nvSpPr>
        <p:spPr>
          <a:xfrm>
            <a:off x="7269480" y="2468880"/>
            <a:ext cx="2743200" cy="365760"/>
          </a:xfrm>
          <a:prstGeom prst="rect">
            <a:avLst/>
          </a:prstGeom>
          <a:noFill/>
        </p:spPr>
        <p:txBody>
          <a:bodyPr wrap="square">
            <a:spAutoFit/>
          </a:bodyPr>
          <a:lstStyle/>
          <a:p>
            <a:pPr algn="l"/>
            <a:r>
              <a:rPr sz="1600" b="1">
                <a:solidFill>
                  <a:srgbClr val="FFFFFF"/>
                </a:solidFill>
              </a:rPr>
              <a:t>Vercel</a:t>
            </a:r>
          </a:p>
        </p:txBody>
      </p:sp>
      <p:sp>
        <p:nvSpPr>
          <p:cNvPr id="11" name="TextBox 10"/>
          <p:cNvSpPr txBox="1"/>
          <p:nvPr/>
        </p:nvSpPr>
        <p:spPr>
          <a:xfrm>
            <a:off x="7269480" y="2834640"/>
            <a:ext cx="4572000" cy="457200"/>
          </a:xfrm>
          <a:prstGeom prst="rect">
            <a:avLst/>
          </a:prstGeom>
          <a:noFill/>
        </p:spPr>
        <p:txBody>
          <a:bodyPr wrap="square">
            <a:spAutoFit/>
          </a:bodyPr>
          <a:lstStyle/>
          <a:p>
            <a:pPr algn="l"/>
            <a:r>
              <a:rPr sz="1200" b="0">
                <a:solidFill>
                  <a:srgbClr val="CCDDEE"/>
                </a:solidFill>
              </a:rPr>
              <a:t>Vercel is a cloud platform for frontend developers, enabling rapid deployment and scaling of web applications with integrated AI capabilities.</a:t>
            </a:r>
          </a:p>
        </p:txBody>
      </p:sp>
      <p:sp>
        <p:nvSpPr>
          <p:cNvPr id="12" name="TextBox 11"/>
          <p:cNvSpPr txBox="1"/>
          <p:nvPr/>
        </p:nvSpPr>
        <p:spPr>
          <a:xfrm>
            <a:off x="0" y="6492240"/>
            <a:ext cx="12191695" cy="320040"/>
          </a:xfrm>
          <a:prstGeom prst="rect">
            <a:avLst/>
          </a:prstGeom>
          <a:noFill/>
        </p:spPr>
        <p:txBody>
          <a:bodyPr wrap="square">
            <a:spAutoFit/>
          </a:bodyPr>
          <a:lstStyle/>
          <a:p>
            <a:pPr algn="ctr"/>
            <a:r>
              <a:rPr sz="900" b="0">
                <a:solidFill>
                  <a:srgbClr val="6688AA"/>
                </a:solidFill>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502920"/>
            <a:ext cx="12191695" cy="36576"/>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365760"/>
          </a:xfrm>
          <a:prstGeom prst="rect">
            <a:avLst/>
          </a:prstGeom>
          <a:noFill/>
        </p:spPr>
        <p:txBody>
          <a:bodyPr wrap="square">
            <a:spAutoFit/>
          </a:bodyPr>
          <a:lstStyle/>
          <a:p>
            <a:pPr algn="l"/>
            <a:r>
              <a:rPr sz="1000" b="1">
                <a:solidFill>
                  <a:srgbClr val="00CCCC"/>
                </a:solidFill>
              </a:rPr>
              <a:t>EXECUTIVE SUMMARY</a:t>
            </a:r>
          </a:p>
        </p:txBody>
      </p:sp>
      <p:sp>
        <p:nvSpPr>
          <p:cNvPr id="4" name="Rectangle 3"/>
          <p:cNvSpPr/>
          <p:nvPr/>
        </p:nvSpPr>
        <p:spPr>
          <a:xfrm>
            <a:off x="365760" y="594360"/>
            <a:ext cx="5303520" cy="594360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594360"/>
            <a:ext cx="5303520" cy="54864"/>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822960"/>
            <a:ext cx="3657600" cy="411480"/>
          </a:xfrm>
          <a:prstGeom prst="rect">
            <a:avLst/>
          </a:prstGeom>
          <a:noFill/>
        </p:spPr>
        <p:txBody>
          <a:bodyPr wrap="square">
            <a:spAutoFit/>
          </a:bodyPr>
          <a:lstStyle/>
          <a:p>
            <a:pPr algn="l"/>
            <a:r>
              <a:rPr sz="2000" b="1">
                <a:solidFill>
                  <a:srgbClr val="FFFFFF"/>
                </a:solidFill>
              </a:rPr>
              <a:t>Cloudflare</a:t>
            </a:r>
          </a:p>
        </p:txBody>
      </p:sp>
      <p:sp>
        <p:nvSpPr>
          <p:cNvPr id="7" name="TextBox 6"/>
          <p:cNvSpPr txBox="1"/>
          <p:nvPr/>
        </p:nvSpPr>
        <p:spPr>
          <a:xfrm>
            <a:off x="594360" y="1325880"/>
            <a:ext cx="4846320" cy="320040"/>
          </a:xfrm>
          <a:prstGeom prst="rect">
            <a:avLst/>
          </a:prstGeom>
          <a:noFill/>
        </p:spPr>
        <p:txBody>
          <a:bodyPr wrap="square">
            <a:spAutoFit/>
          </a:bodyPr>
          <a:lstStyle/>
          <a:p>
            <a:pPr algn="l"/>
            <a:r>
              <a:rPr sz="1100" b="0">
                <a:solidFill>
                  <a:srgbClr val="00CCCC"/>
                </a:solidFill>
              </a:rPr>
              <a:t>Small to large businesses with online operations, developers, and organizations needing robust internet security and performance infrastructure.</a:t>
            </a:r>
          </a:p>
        </p:txBody>
      </p:sp>
      <p:sp>
        <p:nvSpPr>
          <p:cNvPr id="8" name="TextBox 7"/>
          <p:cNvSpPr txBox="1"/>
          <p:nvPr/>
        </p:nvSpPr>
        <p:spPr>
          <a:xfrm>
            <a:off x="594360" y="1691640"/>
            <a:ext cx="4846320" cy="640080"/>
          </a:xfrm>
          <a:prstGeom prst="rect">
            <a:avLst/>
          </a:prstGeom>
          <a:noFill/>
        </p:spPr>
        <p:txBody>
          <a:bodyPr wrap="square">
            <a:spAutoFit/>
          </a:bodyPr>
          <a:lstStyle/>
          <a:p>
            <a:pPr algn="l"/>
            <a:r>
              <a:rPr sz="1300" b="0">
                <a:solidFill>
                  <a:srgbClr val="CCDDEE"/>
                </a:solidFill>
              </a:rPr>
              <a:t>Cloudflare provides global network services for performance, security, and reliability of internet properties.</a:t>
            </a:r>
          </a:p>
        </p:txBody>
      </p:sp>
      <p:sp>
        <p:nvSpPr>
          <p:cNvPr id="9" name="TextBox 8"/>
          <p:cNvSpPr txBox="1"/>
          <p:nvPr/>
        </p:nvSpPr>
        <p:spPr>
          <a:xfrm>
            <a:off x="594360" y="2423160"/>
            <a:ext cx="4846320" cy="274320"/>
          </a:xfrm>
          <a:prstGeom prst="rect">
            <a:avLst/>
          </a:prstGeom>
          <a:noFill/>
        </p:spPr>
        <p:txBody>
          <a:bodyPr wrap="square">
            <a:spAutoFit/>
          </a:bodyPr>
          <a:lstStyle/>
          <a:p>
            <a:pPr algn="l"/>
            <a:r>
              <a:rPr sz="900" b="1">
                <a:solidFill>
                  <a:srgbClr val="6688AA"/>
                </a:solidFill>
              </a:rPr>
              <a:t>TOP FEATURES</a:t>
            </a:r>
          </a:p>
        </p:txBody>
      </p:sp>
      <p:sp>
        <p:nvSpPr>
          <p:cNvPr id="10" name="TextBox 9"/>
          <p:cNvSpPr txBox="1"/>
          <p:nvPr/>
        </p:nvSpPr>
        <p:spPr>
          <a:xfrm>
            <a:off x="594360" y="2697480"/>
            <a:ext cx="4846320" cy="1645920"/>
          </a:xfrm>
          <a:prstGeom prst="rect">
            <a:avLst/>
          </a:prstGeom>
          <a:noFill/>
        </p:spPr>
        <p:txBody>
          <a:bodyPr wrap="square">
            <a:spAutoFit/>
          </a:bodyPr>
          <a:lstStyle/>
          <a:p>
            <a:pPr>
              <a:spcBef>
                <a:spcPts val="400"/>
              </a:spcBef>
            </a:pPr>
            <a:r>
              <a:rPr sz="1200">
                <a:solidFill>
                  <a:srgbClr val="CCDDEE"/>
                </a:solidFill>
              </a:rPr>
              <a:t>• Unmetered DDoS Protection</a:t>
            </a:r>
          </a:p>
          <a:p>
            <a:pPr>
              <a:spcBef>
                <a:spcPts val="400"/>
              </a:spcBef>
            </a:pPr>
            <a:r>
              <a:rPr sz="1200">
                <a:solidFill>
                  <a:srgbClr val="CCDDEE"/>
                </a:solidFill>
              </a:rPr>
              <a:t>• Global CDN</a:t>
            </a:r>
          </a:p>
          <a:p>
            <a:pPr>
              <a:spcBef>
                <a:spcPts val="400"/>
              </a:spcBef>
            </a:pPr>
            <a:r>
              <a:rPr sz="1200">
                <a:solidFill>
                  <a:srgbClr val="CCDDEE"/>
                </a:solidFill>
              </a:rPr>
              <a:t>• Fast DNS</a:t>
            </a:r>
          </a:p>
          <a:p>
            <a:pPr>
              <a:spcBef>
                <a:spcPts val="400"/>
              </a:spcBef>
            </a:pPr>
            <a:r>
              <a:rPr sz="1200">
                <a:solidFill>
                  <a:srgbClr val="CCDDEE"/>
                </a:solidFill>
              </a:rPr>
              <a:t>• Load Balancing</a:t>
            </a:r>
          </a:p>
          <a:p>
            <a:pPr>
              <a:spcBef>
                <a:spcPts val="400"/>
              </a:spcBef>
            </a:pPr>
            <a:r>
              <a:rPr sz="1200">
                <a:solidFill>
                  <a:srgbClr val="CCDDEE"/>
                </a:solidFill>
              </a:rPr>
              <a:t>• Universal SSL Certificate</a:t>
            </a:r>
          </a:p>
        </p:txBody>
      </p:sp>
      <p:sp>
        <p:nvSpPr>
          <p:cNvPr id="11" name="TextBox 10"/>
          <p:cNvSpPr txBox="1"/>
          <p:nvPr/>
        </p:nvSpPr>
        <p:spPr>
          <a:xfrm>
            <a:off x="594360" y="4434840"/>
            <a:ext cx="4846320" cy="274320"/>
          </a:xfrm>
          <a:prstGeom prst="rect">
            <a:avLst/>
          </a:prstGeom>
          <a:noFill/>
        </p:spPr>
        <p:txBody>
          <a:bodyPr wrap="square">
            <a:spAutoFit/>
          </a:bodyPr>
          <a:lstStyle/>
          <a:p>
            <a:pPr algn="l"/>
            <a:r>
              <a:rPr sz="900" b="1">
                <a:solidFill>
                  <a:srgbClr val="00A86B"/>
                </a:solidFill>
              </a:rPr>
              <a:t>STRENGTHS</a:t>
            </a:r>
          </a:p>
        </p:txBody>
      </p:sp>
      <p:sp>
        <p:nvSpPr>
          <p:cNvPr id="12" name="TextBox 11"/>
          <p:cNvSpPr txBox="1"/>
          <p:nvPr/>
        </p:nvSpPr>
        <p:spPr>
          <a:xfrm>
            <a:off x="594360" y="4709160"/>
            <a:ext cx="4846320" cy="914400"/>
          </a:xfrm>
          <a:prstGeom prst="rect">
            <a:avLst/>
          </a:prstGeom>
          <a:noFill/>
        </p:spPr>
        <p:txBody>
          <a:bodyPr wrap="square">
            <a:spAutoFit/>
          </a:bodyPr>
          <a:lstStyle/>
          <a:p>
            <a:pPr>
              <a:spcBef>
                <a:spcPts val="400"/>
              </a:spcBef>
            </a:pPr>
            <a:r>
              <a:rPr sz="1100">
                <a:solidFill>
                  <a:srgbClr val="CCDDEE"/>
                </a:solidFill>
              </a:rPr>
              <a:t>• Comprehensive internet security and performance solutions</a:t>
            </a:r>
          </a:p>
          <a:p>
            <a:pPr>
              <a:spcBef>
                <a:spcPts val="400"/>
              </a:spcBef>
            </a:pPr>
            <a:r>
              <a:rPr sz="1100">
                <a:solidFill>
                  <a:srgbClr val="CCDDEE"/>
                </a:solidFill>
              </a:rPr>
              <a:t>• Extensive global network infrastructure</a:t>
            </a:r>
          </a:p>
          <a:p>
            <a:pPr>
              <a:spcBef>
                <a:spcPts val="400"/>
              </a:spcBef>
            </a:pPr>
            <a:r>
              <a:rPr sz="1100">
                <a:solidFill>
                  <a:srgbClr val="CCDDEE"/>
                </a:solidFill>
              </a:rPr>
              <a:t>• Strong focus on enterprise and mission-critical applications</a:t>
            </a:r>
          </a:p>
        </p:txBody>
      </p:sp>
      <p:sp>
        <p:nvSpPr>
          <p:cNvPr id="13" name="Rectangle 12"/>
          <p:cNvSpPr/>
          <p:nvPr/>
        </p:nvSpPr>
        <p:spPr>
          <a:xfrm>
            <a:off x="6400800" y="594360"/>
            <a:ext cx="5303520" cy="594360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594360"/>
            <a:ext cx="5303520" cy="54864"/>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822960"/>
            <a:ext cx="3657600" cy="411480"/>
          </a:xfrm>
          <a:prstGeom prst="rect">
            <a:avLst/>
          </a:prstGeom>
          <a:noFill/>
        </p:spPr>
        <p:txBody>
          <a:bodyPr wrap="square">
            <a:spAutoFit/>
          </a:bodyPr>
          <a:lstStyle/>
          <a:p>
            <a:pPr algn="l"/>
            <a:r>
              <a:rPr sz="2000" b="1">
                <a:solidFill>
                  <a:srgbClr val="FFFFFF"/>
                </a:solidFill>
              </a:rPr>
              <a:t>Vercel</a:t>
            </a:r>
          </a:p>
        </p:txBody>
      </p:sp>
      <p:sp>
        <p:nvSpPr>
          <p:cNvPr id="16" name="TextBox 15"/>
          <p:cNvSpPr txBox="1"/>
          <p:nvPr/>
        </p:nvSpPr>
        <p:spPr>
          <a:xfrm>
            <a:off x="6629400" y="1325880"/>
            <a:ext cx="4846320" cy="320040"/>
          </a:xfrm>
          <a:prstGeom prst="rect">
            <a:avLst/>
          </a:prstGeom>
          <a:noFill/>
        </p:spPr>
        <p:txBody>
          <a:bodyPr wrap="square">
            <a:spAutoFit/>
          </a:bodyPr>
          <a:lstStyle/>
          <a:p>
            <a:pPr algn="l"/>
            <a:r>
              <a:rPr sz="1100" b="0">
                <a:solidFill>
                  <a:srgbClr val="00CCCC"/>
                </a:solidFill>
              </a:rPr>
              <a:t>Frontend developers, platform engineers, design engineers, startups, and enterprises building modern web applications and AI features.</a:t>
            </a:r>
          </a:p>
        </p:txBody>
      </p:sp>
      <p:sp>
        <p:nvSpPr>
          <p:cNvPr id="17" name="TextBox 16"/>
          <p:cNvSpPr txBox="1"/>
          <p:nvPr/>
        </p:nvSpPr>
        <p:spPr>
          <a:xfrm>
            <a:off x="6629400" y="1691640"/>
            <a:ext cx="4846320" cy="640080"/>
          </a:xfrm>
          <a:prstGeom prst="rect">
            <a:avLst/>
          </a:prstGeom>
          <a:noFill/>
        </p:spPr>
        <p:txBody>
          <a:bodyPr wrap="square">
            <a:spAutoFit/>
          </a:bodyPr>
          <a:lstStyle/>
          <a:p>
            <a:pPr algn="l"/>
            <a:r>
              <a:rPr sz="1300" b="0">
                <a:solidFill>
                  <a:srgbClr val="CCDDEE"/>
                </a:solidFill>
              </a:rPr>
              <a:t>Vercel is a cloud platform for frontend developers, enabling rapid deployment and scaling of web applications with integrated AI capabilities.</a:t>
            </a:r>
          </a:p>
        </p:txBody>
      </p:sp>
      <p:sp>
        <p:nvSpPr>
          <p:cNvPr id="18" name="TextBox 17"/>
          <p:cNvSpPr txBox="1"/>
          <p:nvPr/>
        </p:nvSpPr>
        <p:spPr>
          <a:xfrm>
            <a:off x="6629400" y="2423160"/>
            <a:ext cx="4846320" cy="274320"/>
          </a:xfrm>
          <a:prstGeom prst="rect">
            <a:avLst/>
          </a:prstGeom>
          <a:noFill/>
        </p:spPr>
        <p:txBody>
          <a:bodyPr wrap="square">
            <a:spAutoFit/>
          </a:bodyPr>
          <a:lstStyle/>
          <a:p>
            <a:pPr algn="l"/>
            <a:r>
              <a:rPr sz="900" b="1">
                <a:solidFill>
                  <a:srgbClr val="6688AA"/>
                </a:solidFill>
              </a:rPr>
              <a:t>TOP FEATURES</a:t>
            </a:r>
          </a:p>
        </p:txBody>
      </p:sp>
      <p:sp>
        <p:nvSpPr>
          <p:cNvPr id="19" name="TextBox 18"/>
          <p:cNvSpPr txBox="1"/>
          <p:nvPr/>
        </p:nvSpPr>
        <p:spPr>
          <a:xfrm>
            <a:off x="6629400" y="2697480"/>
            <a:ext cx="4846320" cy="1645920"/>
          </a:xfrm>
          <a:prstGeom prst="rect">
            <a:avLst/>
          </a:prstGeom>
          <a:noFill/>
        </p:spPr>
        <p:txBody>
          <a:bodyPr wrap="square">
            <a:spAutoFit/>
          </a:bodyPr>
          <a:lstStyle/>
          <a:p>
            <a:pPr>
              <a:spcBef>
                <a:spcPts val="400"/>
              </a:spcBef>
            </a:pPr>
            <a:r>
              <a:rPr sz="1200">
                <a:solidFill>
                  <a:srgbClr val="CCDDEE"/>
                </a:solidFill>
              </a:rPr>
              <a:t>• AI Cloud &amp; Vercel Agent</a:t>
            </a:r>
          </a:p>
          <a:p>
            <a:pPr>
              <a:spcBef>
                <a:spcPts val="400"/>
              </a:spcBef>
            </a:pPr>
            <a:r>
              <a:rPr sz="1200">
                <a:solidFill>
                  <a:srgbClr val="CCDDEE"/>
                </a:solidFill>
              </a:rPr>
              <a:t>• Fluid Compute (Functions)</a:t>
            </a:r>
          </a:p>
          <a:p>
            <a:pPr>
              <a:spcBef>
                <a:spcPts val="400"/>
              </a:spcBef>
            </a:pPr>
            <a:r>
              <a:rPr sz="1200">
                <a:solidFill>
                  <a:srgbClr val="CCDDEE"/>
                </a:solidFill>
              </a:rPr>
              <a:t>• CI/CD</a:t>
            </a:r>
          </a:p>
          <a:p>
            <a:pPr>
              <a:spcBef>
                <a:spcPts val="400"/>
              </a:spcBef>
            </a:pPr>
            <a:r>
              <a:rPr sz="1200">
                <a:solidFill>
                  <a:srgbClr val="CCDDEE"/>
                </a:solidFill>
              </a:rPr>
              <a:t>• Web Application Firewall</a:t>
            </a:r>
          </a:p>
          <a:p>
            <a:pPr>
              <a:spcBef>
                <a:spcPts val="400"/>
              </a:spcBef>
            </a:pPr>
            <a:r>
              <a:rPr sz="1200">
                <a:solidFill>
                  <a:srgbClr val="CCDDEE"/>
                </a:solidFill>
              </a:rPr>
              <a:t>• Feature Flags</a:t>
            </a:r>
          </a:p>
        </p:txBody>
      </p:sp>
      <p:sp>
        <p:nvSpPr>
          <p:cNvPr id="20" name="TextBox 19"/>
          <p:cNvSpPr txBox="1"/>
          <p:nvPr/>
        </p:nvSpPr>
        <p:spPr>
          <a:xfrm>
            <a:off x="6629400" y="4434840"/>
            <a:ext cx="4846320" cy="274320"/>
          </a:xfrm>
          <a:prstGeom prst="rect">
            <a:avLst/>
          </a:prstGeom>
          <a:noFill/>
        </p:spPr>
        <p:txBody>
          <a:bodyPr wrap="square">
            <a:spAutoFit/>
          </a:bodyPr>
          <a:lstStyle/>
          <a:p>
            <a:pPr algn="l"/>
            <a:r>
              <a:rPr sz="900" b="1">
                <a:solidFill>
                  <a:srgbClr val="00A86B"/>
                </a:solidFill>
              </a:rPr>
              <a:t>STRENGTHS</a:t>
            </a:r>
          </a:p>
        </p:txBody>
      </p:sp>
      <p:sp>
        <p:nvSpPr>
          <p:cNvPr id="21" name="TextBox 20"/>
          <p:cNvSpPr txBox="1"/>
          <p:nvPr/>
        </p:nvSpPr>
        <p:spPr>
          <a:xfrm>
            <a:off x="6629400" y="4709160"/>
            <a:ext cx="4846320" cy="914400"/>
          </a:xfrm>
          <a:prstGeom prst="rect">
            <a:avLst/>
          </a:prstGeom>
          <a:noFill/>
        </p:spPr>
        <p:txBody>
          <a:bodyPr wrap="square">
            <a:spAutoFit/>
          </a:bodyPr>
          <a:lstStyle/>
          <a:p>
            <a:pPr>
              <a:spcBef>
                <a:spcPts val="400"/>
              </a:spcBef>
            </a:pPr>
            <a:r>
              <a:rPr sz="1100">
                <a:solidFill>
                  <a:srgbClr val="CCDDEE"/>
                </a:solidFill>
              </a:rPr>
              <a:t>• Developer-centric platform with strong framework support (Next.js)</a:t>
            </a:r>
          </a:p>
          <a:p>
            <a:pPr>
              <a:spcBef>
                <a:spcPts val="400"/>
              </a:spcBef>
            </a:pPr>
            <a:r>
              <a:rPr sz="1100">
                <a:solidFill>
                  <a:srgbClr val="CCDDEE"/>
                </a:solidFill>
              </a:rPr>
              <a:t>• Integrated AI development tools and workflows</a:t>
            </a:r>
          </a:p>
          <a:p>
            <a:pPr>
              <a:spcBef>
                <a:spcPts val="400"/>
              </a:spcBef>
            </a:pPr>
            <a:r>
              <a:rPr sz="1100">
                <a:solidFill>
                  <a:srgbClr val="CCDDEE"/>
                </a:solidFill>
              </a:rPr>
              <a:t>• Rapid deployment and scalable compute for frontend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502920"/>
            <a:ext cx="12191695" cy="36576"/>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365760"/>
          </a:xfrm>
          <a:prstGeom prst="rect">
            <a:avLst/>
          </a:prstGeom>
          <a:noFill/>
        </p:spPr>
        <p:txBody>
          <a:bodyPr wrap="square">
            <a:spAutoFit/>
          </a:bodyPr>
          <a:lstStyle/>
          <a:p>
            <a:pPr algn="l"/>
            <a:r>
              <a:rPr sz="1000" b="1">
                <a:solidFill>
                  <a:srgbClr val="00CCCC"/>
                </a:solidFill>
              </a:rPr>
              <a:t>PRICING COMPARISON</a:t>
            </a:r>
          </a:p>
        </p:txBody>
      </p:sp>
      <p:sp>
        <p:nvSpPr>
          <p:cNvPr id="4" name="TextBox 3"/>
          <p:cNvSpPr txBox="1"/>
          <p:nvPr/>
        </p:nvSpPr>
        <p:spPr>
          <a:xfrm>
            <a:off x="365760" y="594360"/>
            <a:ext cx="5303520" cy="411480"/>
          </a:xfrm>
          <a:prstGeom prst="rect">
            <a:avLst/>
          </a:prstGeom>
          <a:noFill/>
        </p:spPr>
        <p:txBody>
          <a:bodyPr wrap="square">
            <a:spAutoFit/>
          </a:bodyPr>
          <a:lstStyle/>
          <a:p>
            <a:pPr algn="l"/>
            <a:r>
              <a:rPr sz="1800" b="1">
                <a:solidFill>
                  <a:srgbClr val="FFFFFF"/>
                </a:solidFill>
              </a:rPr>
              <a:t>Cloudflare</a:t>
            </a:r>
          </a:p>
        </p:txBody>
      </p:sp>
      <p:sp>
        <p:nvSpPr>
          <p:cNvPr id="5" name="Rectangle 4"/>
          <p:cNvSpPr/>
          <p:nvPr/>
        </p:nvSpPr>
        <p:spPr>
          <a:xfrm>
            <a:off x="365760" y="1097280"/>
            <a:ext cx="5212080" cy="141732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97280"/>
            <a:ext cx="36576" cy="141732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188720"/>
            <a:ext cx="2286000" cy="274320"/>
          </a:xfrm>
          <a:prstGeom prst="rect">
            <a:avLst/>
          </a:prstGeom>
          <a:noFill/>
        </p:spPr>
        <p:txBody>
          <a:bodyPr wrap="square">
            <a:spAutoFit/>
          </a:bodyPr>
          <a:lstStyle/>
          <a:p>
            <a:pPr algn="l"/>
            <a:r>
              <a:rPr sz="900" b="1">
                <a:solidFill>
                  <a:srgbClr val="00CCCC"/>
                </a:solidFill>
              </a:rPr>
              <a:t>BUSINESS-CRITICAL</a:t>
            </a:r>
          </a:p>
        </p:txBody>
      </p:sp>
      <p:sp>
        <p:nvSpPr>
          <p:cNvPr id="8" name="TextBox 7"/>
          <p:cNvSpPr txBox="1"/>
          <p:nvPr/>
        </p:nvSpPr>
        <p:spPr>
          <a:xfrm>
            <a:off x="530352" y="1444752"/>
            <a:ext cx="2286000" cy="411480"/>
          </a:xfrm>
          <a:prstGeom prst="rect">
            <a:avLst/>
          </a:prstGeom>
          <a:noFill/>
        </p:spPr>
        <p:txBody>
          <a:bodyPr wrap="square">
            <a:spAutoFit/>
          </a:bodyPr>
          <a:lstStyle/>
          <a:p>
            <a:pPr algn="l"/>
            <a:r>
              <a:rPr sz="1800" b="1">
                <a:solidFill>
                  <a:srgbClr val="FFFFFF"/>
                </a:solidFill>
              </a:rPr>
              <a:t>$20/month (billed annually)</a:t>
            </a:r>
          </a:p>
        </p:txBody>
      </p:sp>
      <p:sp>
        <p:nvSpPr>
          <p:cNvPr id="9" name="TextBox 8"/>
          <p:cNvSpPr txBox="1"/>
          <p:nvPr/>
        </p:nvSpPr>
        <p:spPr>
          <a:xfrm>
            <a:off x="530352" y="1901952"/>
            <a:ext cx="4937760" cy="685800"/>
          </a:xfrm>
          <a:prstGeom prst="rect">
            <a:avLst/>
          </a:prstGeom>
          <a:noFill/>
        </p:spPr>
        <p:txBody>
          <a:bodyPr wrap="square">
            <a:spAutoFit/>
          </a:bodyPr>
          <a:lstStyle/>
          <a:p>
            <a:pPr>
              <a:spcBef>
                <a:spcPts val="400"/>
              </a:spcBef>
            </a:pPr>
            <a:r>
              <a:rPr sz="1000">
                <a:solidFill>
                  <a:srgbClr val="6688AA"/>
                </a:solidFill>
              </a:rPr>
              <a:t>• Fast, Easy-to-use DNS</a:t>
            </a:r>
          </a:p>
          <a:p>
            <a:pPr>
              <a:spcBef>
                <a:spcPts val="400"/>
              </a:spcBef>
            </a:pPr>
            <a:r>
              <a:rPr sz="1000">
                <a:solidFill>
                  <a:srgbClr val="6688AA"/>
                </a:solidFill>
              </a:rPr>
              <a:t>• Unmetered DDoS Protection</a:t>
            </a:r>
          </a:p>
          <a:p>
            <a:pPr>
              <a:spcBef>
                <a:spcPts val="400"/>
              </a:spcBef>
            </a:pPr>
            <a:r>
              <a:rPr sz="1000">
                <a:solidFill>
                  <a:srgbClr val="6688AA"/>
                </a:solidFill>
              </a:rPr>
              <a:t>• CDN</a:t>
            </a:r>
          </a:p>
        </p:txBody>
      </p:sp>
      <p:sp>
        <p:nvSpPr>
          <p:cNvPr id="10" name="Rectangle 9"/>
          <p:cNvSpPr/>
          <p:nvPr/>
        </p:nvSpPr>
        <p:spPr>
          <a:xfrm>
            <a:off x="365760" y="2624328"/>
            <a:ext cx="5212080" cy="141732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624328"/>
            <a:ext cx="36576" cy="141732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2715768"/>
            <a:ext cx="2286000" cy="274320"/>
          </a:xfrm>
          <a:prstGeom prst="rect">
            <a:avLst/>
          </a:prstGeom>
          <a:noFill/>
        </p:spPr>
        <p:txBody>
          <a:bodyPr wrap="square">
            <a:spAutoFit/>
          </a:bodyPr>
          <a:lstStyle/>
          <a:p>
            <a:pPr algn="l"/>
            <a:r>
              <a:rPr sz="900" b="1">
                <a:solidFill>
                  <a:srgbClr val="00CCCC"/>
                </a:solidFill>
              </a:rPr>
              <a:t>BUSINESS</a:t>
            </a:r>
          </a:p>
        </p:txBody>
      </p:sp>
      <p:sp>
        <p:nvSpPr>
          <p:cNvPr id="13" name="TextBox 12"/>
          <p:cNvSpPr txBox="1"/>
          <p:nvPr/>
        </p:nvSpPr>
        <p:spPr>
          <a:xfrm>
            <a:off x="530352" y="2971800"/>
            <a:ext cx="2286000" cy="411480"/>
          </a:xfrm>
          <a:prstGeom prst="rect">
            <a:avLst/>
          </a:prstGeom>
          <a:noFill/>
        </p:spPr>
        <p:txBody>
          <a:bodyPr wrap="square">
            <a:spAutoFit/>
          </a:bodyPr>
          <a:lstStyle/>
          <a:p>
            <a:pPr algn="l"/>
            <a:r>
              <a:rPr sz="1800" b="1">
                <a:solidFill>
                  <a:srgbClr val="FFFFFF"/>
                </a:solidFill>
              </a:rPr>
              <a:t>$200/month (billed annually)</a:t>
            </a:r>
          </a:p>
        </p:txBody>
      </p:sp>
      <p:sp>
        <p:nvSpPr>
          <p:cNvPr id="14" name="TextBox 13"/>
          <p:cNvSpPr txBox="1"/>
          <p:nvPr/>
        </p:nvSpPr>
        <p:spPr>
          <a:xfrm>
            <a:off x="530352" y="3429000"/>
            <a:ext cx="4937760" cy="685800"/>
          </a:xfrm>
          <a:prstGeom prst="rect">
            <a:avLst/>
          </a:prstGeom>
          <a:noFill/>
        </p:spPr>
        <p:txBody>
          <a:bodyPr wrap="square">
            <a:spAutoFit/>
          </a:bodyPr>
          <a:lstStyle/>
          <a:p>
            <a:pPr>
              <a:spcBef>
                <a:spcPts val="400"/>
              </a:spcBef>
            </a:pPr>
            <a:r>
              <a:rPr sz="1000">
                <a:solidFill>
                  <a:srgbClr val="6688AA"/>
                </a:solidFill>
              </a:rPr>
              <a:t>• For small businesses operating online</a:t>
            </a:r>
          </a:p>
          <a:p>
            <a:pPr>
              <a:spcBef>
                <a:spcPts val="400"/>
              </a:spcBef>
            </a:pPr>
            <a:r>
              <a:rPr sz="1000">
                <a:solidFill>
                  <a:srgbClr val="6688AA"/>
                </a:solidFill>
              </a:rPr>
              <a:t>• Includes core security and performance features</a:t>
            </a:r>
          </a:p>
        </p:txBody>
      </p:sp>
      <p:sp>
        <p:nvSpPr>
          <p:cNvPr id="15" name="Rectangle 14"/>
          <p:cNvSpPr/>
          <p:nvPr/>
        </p:nvSpPr>
        <p:spPr>
          <a:xfrm>
            <a:off x="365760" y="4151376"/>
            <a:ext cx="5212080" cy="141732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4151376"/>
            <a:ext cx="36576" cy="141732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4242816"/>
            <a:ext cx="2286000" cy="274320"/>
          </a:xfrm>
          <a:prstGeom prst="rect">
            <a:avLst/>
          </a:prstGeom>
          <a:noFill/>
        </p:spPr>
        <p:txBody>
          <a:bodyPr wrap="square">
            <a:spAutoFit/>
          </a:bodyPr>
          <a:lstStyle/>
          <a:p>
            <a:pPr algn="l"/>
            <a:r>
              <a:rPr sz="900" b="1">
                <a:solidFill>
                  <a:srgbClr val="00CCCC"/>
                </a:solidFill>
              </a:rPr>
              <a:t>CONTRACT</a:t>
            </a:r>
          </a:p>
        </p:txBody>
      </p:sp>
      <p:sp>
        <p:nvSpPr>
          <p:cNvPr id="18" name="TextBox 17"/>
          <p:cNvSpPr txBox="1"/>
          <p:nvPr/>
        </p:nvSpPr>
        <p:spPr>
          <a:xfrm>
            <a:off x="530352" y="4498848"/>
            <a:ext cx="2286000" cy="411480"/>
          </a:xfrm>
          <a:prstGeom prst="rect">
            <a:avLst/>
          </a:prstGeom>
          <a:noFill/>
        </p:spPr>
        <p:txBody>
          <a:bodyPr wrap="square">
            <a:spAutoFit/>
          </a:bodyPr>
          <a:lstStyle/>
          <a:p>
            <a:pPr algn="l"/>
            <a:r>
              <a:rPr sz="1800" b="1">
                <a:solidFill>
                  <a:srgbClr val="FFFFFF"/>
                </a:solidFill>
              </a:rPr>
              <a:t>Custom</a:t>
            </a:r>
          </a:p>
        </p:txBody>
      </p:sp>
      <p:sp>
        <p:nvSpPr>
          <p:cNvPr id="19" name="TextBox 18"/>
          <p:cNvSpPr txBox="1"/>
          <p:nvPr/>
        </p:nvSpPr>
        <p:spPr>
          <a:xfrm>
            <a:off x="530352" y="4956048"/>
            <a:ext cx="4937760" cy="685800"/>
          </a:xfrm>
          <a:prstGeom prst="rect">
            <a:avLst/>
          </a:prstGeom>
          <a:noFill/>
        </p:spPr>
        <p:txBody>
          <a:bodyPr wrap="square">
            <a:spAutoFit/>
          </a:bodyPr>
          <a:lstStyle/>
          <a:p>
            <a:pPr>
              <a:spcBef>
                <a:spcPts val="400"/>
              </a:spcBef>
            </a:pPr>
            <a:r>
              <a:rPr sz="1000">
                <a:solidFill>
                  <a:srgbClr val="6688AA"/>
                </a:solidFill>
              </a:rPr>
              <a:t>• For mission-critical applications</a:t>
            </a:r>
          </a:p>
          <a:p>
            <a:pPr>
              <a:spcBef>
                <a:spcPts val="400"/>
              </a:spcBef>
            </a:pPr>
            <a:r>
              <a:rPr sz="1000">
                <a:solidFill>
                  <a:srgbClr val="6688AA"/>
                </a:solidFill>
              </a:rPr>
              <a:t>• Billed annually</a:t>
            </a:r>
          </a:p>
          <a:p>
            <a:pPr>
              <a:spcBef>
                <a:spcPts val="400"/>
              </a:spcBef>
            </a:pPr>
            <a:r>
              <a:rPr sz="1000">
                <a:solidFill>
                  <a:srgbClr val="6688AA"/>
                </a:solidFill>
              </a:rPr>
              <a:t>• Custom terms</a:t>
            </a:r>
          </a:p>
        </p:txBody>
      </p:sp>
      <p:sp>
        <p:nvSpPr>
          <p:cNvPr id="20" name="Rectangle 19"/>
          <p:cNvSpPr/>
          <p:nvPr/>
        </p:nvSpPr>
        <p:spPr>
          <a:xfrm>
            <a:off x="365760" y="5678424"/>
            <a:ext cx="5212080" cy="141732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5678424"/>
            <a:ext cx="36576" cy="141732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5769864"/>
            <a:ext cx="2286000" cy="274320"/>
          </a:xfrm>
          <a:prstGeom prst="rect">
            <a:avLst/>
          </a:prstGeom>
          <a:noFill/>
        </p:spPr>
        <p:txBody>
          <a:bodyPr wrap="square">
            <a:spAutoFit/>
          </a:bodyPr>
          <a:lstStyle/>
          <a:p>
            <a:pPr algn="l"/>
            <a:r>
              <a:rPr sz="900" b="1">
                <a:solidFill>
                  <a:srgbClr val="00CCCC"/>
                </a:solidFill>
              </a:rPr>
              <a:t>LOAD BALANCING ADD-ON</a:t>
            </a:r>
          </a:p>
        </p:txBody>
      </p:sp>
      <p:sp>
        <p:nvSpPr>
          <p:cNvPr id="23" name="TextBox 22"/>
          <p:cNvSpPr txBox="1"/>
          <p:nvPr/>
        </p:nvSpPr>
        <p:spPr>
          <a:xfrm>
            <a:off x="530352" y="6025896"/>
            <a:ext cx="2286000" cy="411480"/>
          </a:xfrm>
          <a:prstGeom prst="rect">
            <a:avLst/>
          </a:prstGeom>
          <a:noFill/>
        </p:spPr>
        <p:txBody>
          <a:bodyPr wrap="square">
            <a:spAutoFit/>
          </a:bodyPr>
          <a:lstStyle/>
          <a:p>
            <a:pPr algn="l"/>
            <a:r>
              <a:rPr sz="1800" b="1">
                <a:solidFill>
                  <a:srgbClr val="FFFFFF"/>
                </a:solidFill>
              </a:rPr>
              <a:t>Starting at $5 per month</a:t>
            </a:r>
          </a:p>
        </p:txBody>
      </p:sp>
      <p:sp>
        <p:nvSpPr>
          <p:cNvPr id="24" name="TextBox 23"/>
          <p:cNvSpPr txBox="1"/>
          <p:nvPr/>
        </p:nvSpPr>
        <p:spPr>
          <a:xfrm>
            <a:off x="530352" y="6483096"/>
            <a:ext cx="4937760" cy="685800"/>
          </a:xfrm>
          <a:prstGeom prst="rect">
            <a:avLst/>
          </a:prstGeom>
          <a:noFill/>
        </p:spPr>
        <p:txBody>
          <a:bodyPr wrap="square">
            <a:spAutoFit/>
          </a:bodyPr>
          <a:lstStyle/>
          <a:p>
            <a:pPr>
              <a:spcBef>
                <a:spcPts val="400"/>
              </a:spcBef>
            </a:pPr>
            <a:r>
              <a:rPr sz="1000">
                <a:solidFill>
                  <a:srgbClr val="6688AA"/>
                </a:solidFill>
              </a:rPr>
              <a:t>• Local and global traffic load balancing</a:t>
            </a:r>
          </a:p>
          <a:p>
            <a:pPr>
              <a:spcBef>
                <a:spcPts val="400"/>
              </a:spcBef>
            </a:pPr>
            <a:r>
              <a:rPr sz="1000">
                <a:solidFill>
                  <a:srgbClr val="6688AA"/>
                </a:solidFill>
              </a:rPr>
              <a:t>• Geographic routing</a:t>
            </a:r>
          </a:p>
          <a:p>
            <a:pPr>
              <a:spcBef>
                <a:spcPts val="400"/>
              </a:spcBef>
            </a:pPr>
            <a:r>
              <a:rPr sz="1000">
                <a:solidFill>
                  <a:srgbClr val="6688AA"/>
                </a:solidFill>
              </a:rPr>
              <a:t>• Server health checks</a:t>
            </a:r>
          </a:p>
        </p:txBody>
      </p:sp>
      <p:sp>
        <p:nvSpPr>
          <p:cNvPr id="25" name="TextBox 24"/>
          <p:cNvSpPr txBox="1"/>
          <p:nvPr/>
        </p:nvSpPr>
        <p:spPr>
          <a:xfrm>
            <a:off x="6400800" y="594360"/>
            <a:ext cx="5303520" cy="411480"/>
          </a:xfrm>
          <a:prstGeom prst="rect">
            <a:avLst/>
          </a:prstGeom>
          <a:noFill/>
        </p:spPr>
        <p:txBody>
          <a:bodyPr wrap="square">
            <a:spAutoFit/>
          </a:bodyPr>
          <a:lstStyle/>
          <a:p>
            <a:pPr algn="l"/>
            <a:r>
              <a:rPr sz="1800" b="1">
                <a:solidFill>
                  <a:srgbClr val="FFFFFF"/>
                </a:solidFill>
              </a:rPr>
              <a:t>Vercel</a:t>
            </a:r>
          </a:p>
        </p:txBody>
      </p:sp>
      <p:sp>
        <p:nvSpPr>
          <p:cNvPr id="26" name="Rectangle 25"/>
          <p:cNvSpPr/>
          <p:nvPr/>
        </p:nvSpPr>
        <p:spPr>
          <a:xfrm>
            <a:off x="6400800" y="1097280"/>
            <a:ext cx="5212080" cy="141732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1097280"/>
            <a:ext cx="36576" cy="141732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1188720"/>
            <a:ext cx="2286000" cy="274320"/>
          </a:xfrm>
          <a:prstGeom prst="rect">
            <a:avLst/>
          </a:prstGeom>
          <a:noFill/>
        </p:spPr>
        <p:txBody>
          <a:bodyPr wrap="square">
            <a:spAutoFit/>
          </a:bodyPr>
          <a:lstStyle/>
          <a:p>
            <a:pPr algn="l"/>
            <a:r>
              <a:rPr sz="900" b="1">
                <a:solidFill>
                  <a:srgbClr val="00A86B"/>
                </a:solidFill>
              </a:rPr>
              <a:t>HOBBY</a:t>
            </a:r>
          </a:p>
        </p:txBody>
      </p:sp>
      <p:sp>
        <p:nvSpPr>
          <p:cNvPr id="29" name="TextBox 28"/>
          <p:cNvSpPr txBox="1"/>
          <p:nvPr/>
        </p:nvSpPr>
        <p:spPr>
          <a:xfrm>
            <a:off x="6565392" y="1444752"/>
            <a:ext cx="2286000" cy="411480"/>
          </a:xfrm>
          <a:prstGeom prst="rect">
            <a:avLst/>
          </a:prstGeom>
          <a:noFill/>
        </p:spPr>
        <p:txBody>
          <a:bodyPr wrap="square">
            <a:spAutoFit/>
          </a:bodyPr>
          <a:lstStyle/>
          <a:p>
            <a:pPr algn="l"/>
            <a:r>
              <a:rPr sz="1800" b="1">
                <a:solidFill>
                  <a:srgbClr val="FFFFFF"/>
                </a:solidFill>
              </a:rPr>
              <a:t>Free</a:t>
            </a:r>
          </a:p>
        </p:txBody>
      </p:sp>
      <p:sp>
        <p:nvSpPr>
          <p:cNvPr id="30" name="TextBox 29"/>
          <p:cNvSpPr txBox="1"/>
          <p:nvPr/>
        </p:nvSpPr>
        <p:spPr>
          <a:xfrm>
            <a:off x="6565392" y="1901952"/>
            <a:ext cx="4937760" cy="685800"/>
          </a:xfrm>
          <a:prstGeom prst="rect">
            <a:avLst/>
          </a:prstGeom>
          <a:noFill/>
        </p:spPr>
        <p:txBody>
          <a:bodyPr wrap="square">
            <a:spAutoFit/>
          </a:bodyPr>
          <a:lstStyle/>
          <a:p>
            <a:pPr>
              <a:spcBef>
                <a:spcPts val="400"/>
              </a:spcBef>
            </a:pPr>
            <a:r>
              <a:rPr sz="1000">
                <a:solidFill>
                  <a:srgbClr val="6688AA"/>
                </a:solidFill>
              </a:rPr>
              <a:t>• 1M Edge Requests / month included</a:t>
            </a:r>
          </a:p>
          <a:p>
            <a:pPr>
              <a:spcBef>
                <a:spcPts val="400"/>
              </a:spcBef>
            </a:pPr>
            <a:r>
              <a:rPr sz="1000">
                <a:solidFill>
                  <a:srgbClr val="6688AA"/>
                </a:solidFill>
              </a:rPr>
              <a:t>• 100 GB Fast Data Transfer / month included</a:t>
            </a:r>
          </a:p>
          <a:p>
            <a:pPr>
              <a:spcBef>
                <a:spcPts val="400"/>
              </a:spcBef>
            </a:pPr>
            <a:r>
              <a:rPr sz="1000">
                <a:solidFill>
                  <a:srgbClr val="6688AA"/>
                </a:solidFill>
              </a:rPr>
              <a:t>• 4 hours Active CPU / month included</a:t>
            </a:r>
          </a:p>
        </p:txBody>
      </p:sp>
      <p:sp>
        <p:nvSpPr>
          <p:cNvPr id="31" name="Rectangle 30"/>
          <p:cNvSpPr/>
          <p:nvPr/>
        </p:nvSpPr>
        <p:spPr>
          <a:xfrm>
            <a:off x="6400800" y="2624328"/>
            <a:ext cx="5212080" cy="141732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0" y="2624328"/>
            <a:ext cx="36576" cy="141732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65392" y="2715768"/>
            <a:ext cx="2286000" cy="274320"/>
          </a:xfrm>
          <a:prstGeom prst="rect">
            <a:avLst/>
          </a:prstGeom>
          <a:noFill/>
        </p:spPr>
        <p:txBody>
          <a:bodyPr wrap="square">
            <a:spAutoFit/>
          </a:bodyPr>
          <a:lstStyle/>
          <a:p>
            <a:pPr algn="l"/>
            <a:r>
              <a:rPr sz="900" b="1">
                <a:solidFill>
                  <a:srgbClr val="00A86B"/>
                </a:solidFill>
              </a:rPr>
              <a:t>PRO</a:t>
            </a:r>
          </a:p>
        </p:txBody>
      </p:sp>
      <p:sp>
        <p:nvSpPr>
          <p:cNvPr id="34" name="TextBox 33"/>
          <p:cNvSpPr txBox="1"/>
          <p:nvPr/>
        </p:nvSpPr>
        <p:spPr>
          <a:xfrm>
            <a:off x="6565392" y="2971800"/>
            <a:ext cx="2286000" cy="411480"/>
          </a:xfrm>
          <a:prstGeom prst="rect">
            <a:avLst/>
          </a:prstGeom>
          <a:noFill/>
        </p:spPr>
        <p:txBody>
          <a:bodyPr wrap="square">
            <a:spAutoFit/>
          </a:bodyPr>
          <a:lstStyle/>
          <a:p>
            <a:pPr algn="l"/>
            <a:r>
              <a:rPr sz="1800" b="1">
                <a:solidFill>
                  <a:srgbClr val="FFFFFF"/>
                </a:solidFill>
              </a:rPr>
              <a:t>Usage-based (after included resources)</a:t>
            </a:r>
          </a:p>
        </p:txBody>
      </p:sp>
      <p:sp>
        <p:nvSpPr>
          <p:cNvPr id="35" name="TextBox 34"/>
          <p:cNvSpPr txBox="1"/>
          <p:nvPr/>
        </p:nvSpPr>
        <p:spPr>
          <a:xfrm>
            <a:off x="6565392" y="3429000"/>
            <a:ext cx="4937760" cy="685800"/>
          </a:xfrm>
          <a:prstGeom prst="rect">
            <a:avLst/>
          </a:prstGeom>
          <a:noFill/>
        </p:spPr>
        <p:txBody>
          <a:bodyPr wrap="square">
            <a:spAutoFit/>
          </a:bodyPr>
          <a:lstStyle/>
          <a:p>
            <a:pPr>
              <a:spcBef>
                <a:spcPts val="400"/>
              </a:spcBef>
            </a:pPr>
            <a:r>
              <a:rPr sz="1000">
                <a:solidFill>
                  <a:srgbClr val="6688AA"/>
                </a:solidFill>
              </a:rPr>
              <a:t>• 10M Edge Requests / month included</a:t>
            </a:r>
          </a:p>
          <a:p>
            <a:pPr>
              <a:spcBef>
                <a:spcPts val="400"/>
              </a:spcBef>
            </a:pPr>
            <a:r>
              <a:rPr sz="1000">
                <a:solidFill>
                  <a:srgbClr val="6688AA"/>
                </a:solidFill>
              </a:rPr>
              <a:t>• 1TB Fast Data Transfer / month included</a:t>
            </a:r>
          </a:p>
          <a:p>
            <a:pPr>
              <a:spcBef>
                <a:spcPts val="400"/>
              </a:spcBef>
            </a:pPr>
            <a:r>
              <a:rPr sz="1000">
                <a:solidFill>
                  <a:srgbClr val="6688AA"/>
                </a:solidFill>
              </a:rPr>
              <a:t>• Managed WAF Rulesets</a:t>
            </a:r>
          </a:p>
        </p:txBody>
      </p:sp>
      <p:sp>
        <p:nvSpPr>
          <p:cNvPr id="36" name="Rectangle 35"/>
          <p:cNvSpPr/>
          <p:nvPr/>
        </p:nvSpPr>
        <p:spPr>
          <a:xfrm>
            <a:off x="6400800" y="4151376"/>
            <a:ext cx="5212080" cy="141732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4151376"/>
            <a:ext cx="36576" cy="141732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65392" y="4242816"/>
            <a:ext cx="2286000" cy="274320"/>
          </a:xfrm>
          <a:prstGeom prst="rect">
            <a:avLst/>
          </a:prstGeom>
          <a:noFill/>
        </p:spPr>
        <p:txBody>
          <a:bodyPr wrap="square">
            <a:spAutoFit/>
          </a:bodyPr>
          <a:lstStyle/>
          <a:p>
            <a:pPr algn="l"/>
            <a:r>
              <a:rPr sz="900" b="1">
                <a:solidFill>
                  <a:srgbClr val="00A86B"/>
                </a:solidFill>
              </a:rPr>
              <a:t>ENTERPRISE</a:t>
            </a:r>
          </a:p>
        </p:txBody>
      </p:sp>
      <p:sp>
        <p:nvSpPr>
          <p:cNvPr id="39" name="TextBox 38"/>
          <p:cNvSpPr txBox="1"/>
          <p:nvPr/>
        </p:nvSpPr>
        <p:spPr>
          <a:xfrm>
            <a:off x="6565392" y="4498848"/>
            <a:ext cx="2286000" cy="411480"/>
          </a:xfrm>
          <a:prstGeom prst="rect">
            <a:avLst/>
          </a:prstGeom>
          <a:noFill/>
        </p:spPr>
        <p:txBody>
          <a:bodyPr wrap="square">
            <a:spAutoFit/>
          </a:bodyPr>
          <a:lstStyle/>
          <a:p>
            <a:pPr algn="l"/>
            <a:r>
              <a:rPr sz="1800" b="1">
                <a:solidFill>
                  <a:srgbClr val="FFFFFF"/>
                </a:solidFill>
              </a:rPr>
              <a:t>Custom</a:t>
            </a:r>
          </a:p>
        </p:txBody>
      </p:sp>
      <p:sp>
        <p:nvSpPr>
          <p:cNvPr id="40" name="TextBox 39"/>
          <p:cNvSpPr txBox="1"/>
          <p:nvPr/>
        </p:nvSpPr>
        <p:spPr>
          <a:xfrm>
            <a:off x="6565392" y="4956048"/>
            <a:ext cx="4937760" cy="685800"/>
          </a:xfrm>
          <a:prstGeom prst="rect">
            <a:avLst/>
          </a:prstGeom>
          <a:noFill/>
        </p:spPr>
        <p:txBody>
          <a:bodyPr wrap="square">
            <a:spAutoFit/>
          </a:bodyPr>
          <a:lstStyle/>
          <a:p>
            <a:pPr>
              <a:spcBef>
                <a:spcPts val="400"/>
              </a:spcBef>
            </a:pPr>
            <a:r>
              <a:rPr sz="1000">
                <a:solidFill>
                  <a:srgbClr val="6688AA"/>
                </a:solidFill>
              </a:rPr>
              <a:t>• Critical security, performance, observability</a:t>
            </a:r>
          </a:p>
          <a:p>
            <a:pPr>
              <a:spcBef>
                <a:spcPts val="400"/>
              </a:spcBef>
            </a:pPr>
            <a:r>
              <a:rPr sz="1000">
                <a:solidFill>
                  <a:srgbClr val="6688AA"/>
                </a:solidFill>
              </a:rPr>
              <a:t>• 99.99% SLA</a:t>
            </a:r>
          </a:p>
          <a:p>
            <a:pPr>
              <a:spcBef>
                <a:spcPts val="400"/>
              </a:spcBef>
            </a:pPr>
            <a:r>
              <a:rPr sz="1000">
                <a:solidFill>
                  <a:srgbClr val="6688AA"/>
                </a:solidFill>
              </a:rPr>
              <a:t>• Multi-region compute &amp; failover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502920"/>
            <a:ext cx="12191695" cy="36576"/>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365760"/>
          </a:xfrm>
          <a:prstGeom prst="rect">
            <a:avLst/>
          </a:prstGeom>
          <a:noFill/>
        </p:spPr>
        <p:txBody>
          <a:bodyPr wrap="square">
            <a:spAutoFit/>
          </a:bodyPr>
          <a:lstStyle/>
          <a:p>
            <a:pPr algn="l"/>
            <a:r>
              <a:rPr sz="1000" b="1">
                <a:solidFill>
                  <a:srgbClr val="00CCCC"/>
                </a:solidFill>
              </a:rPr>
              <a:t>COMPETITIVE DIFFERENTIATORS</a:t>
            </a:r>
          </a:p>
        </p:txBody>
      </p:sp>
      <p:sp>
        <p:nvSpPr>
          <p:cNvPr id="4" name="TextBox 3"/>
          <p:cNvSpPr txBox="1"/>
          <p:nvPr/>
        </p:nvSpPr>
        <p:spPr>
          <a:xfrm>
            <a:off x="365760" y="594360"/>
            <a:ext cx="5303520" cy="365760"/>
          </a:xfrm>
          <a:prstGeom prst="rect">
            <a:avLst/>
          </a:prstGeom>
          <a:noFill/>
        </p:spPr>
        <p:txBody>
          <a:bodyPr wrap="square">
            <a:spAutoFit/>
          </a:bodyPr>
          <a:lstStyle/>
          <a:p>
            <a:pPr algn="l"/>
            <a:r>
              <a:rPr sz="1400" b="1">
                <a:solidFill>
                  <a:srgbClr val="00CCCC"/>
                </a:solidFill>
              </a:rPr>
              <a:t>ONLY IN CLOUDFLARE</a:t>
            </a:r>
          </a:p>
        </p:txBody>
      </p:sp>
      <p:sp>
        <p:nvSpPr>
          <p:cNvPr id="5" name="Rectangle 4"/>
          <p:cNvSpPr/>
          <p:nvPr/>
        </p:nvSpPr>
        <p:spPr>
          <a:xfrm>
            <a:off x="365760" y="1051560"/>
            <a:ext cx="5166360" cy="438912"/>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51560"/>
            <a:ext cx="36576" cy="438912"/>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124712"/>
            <a:ext cx="4937760" cy="320040"/>
          </a:xfrm>
          <a:prstGeom prst="rect">
            <a:avLst/>
          </a:prstGeom>
          <a:noFill/>
        </p:spPr>
        <p:txBody>
          <a:bodyPr wrap="square">
            <a:spAutoFit/>
          </a:bodyPr>
          <a:lstStyle/>
          <a:p>
            <a:pPr algn="l"/>
            <a:r>
              <a:rPr sz="1200" b="0">
                <a:solidFill>
                  <a:srgbClr val="FFFFFF"/>
                </a:solidFill>
              </a:rPr>
              <a:t>Unmetered DDoS Protection</a:t>
            </a:r>
          </a:p>
        </p:txBody>
      </p:sp>
      <p:sp>
        <p:nvSpPr>
          <p:cNvPr id="8" name="Rectangle 7"/>
          <p:cNvSpPr/>
          <p:nvPr/>
        </p:nvSpPr>
        <p:spPr>
          <a:xfrm>
            <a:off x="365760" y="1554480"/>
            <a:ext cx="5166360" cy="438912"/>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554480"/>
            <a:ext cx="36576" cy="438912"/>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627632"/>
            <a:ext cx="4937760" cy="320040"/>
          </a:xfrm>
          <a:prstGeom prst="rect">
            <a:avLst/>
          </a:prstGeom>
          <a:noFill/>
        </p:spPr>
        <p:txBody>
          <a:bodyPr wrap="square">
            <a:spAutoFit/>
          </a:bodyPr>
          <a:lstStyle/>
          <a:p>
            <a:pPr algn="l"/>
            <a:r>
              <a:rPr sz="1200" b="0">
                <a:solidFill>
                  <a:srgbClr val="FFFFFF"/>
                </a:solidFill>
              </a:rPr>
              <a:t>Universal SSL Certificate</a:t>
            </a:r>
          </a:p>
        </p:txBody>
      </p:sp>
      <p:sp>
        <p:nvSpPr>
          <p:cNvPr id="11" name="Rectangle 10"/>
          <p:cNvSpPr/>
          <p:nvPr/>
        </p:nvSpPr>
        <p:spPr>
          <a:xfrm>
            <a:off x="365760" y="2057400"/>
            <a:ext cx="5166360" cy="438912"/>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057400"/>
            <a:ext cx="36576" cy="438912"/>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2130552"/>
            <a:ext cx="4937760" cy="320040"/>
          </a:xfrm>
          <a:prstGeom prst="rect">
            <a:avLst/>
          </a:prstGeom>
          <a:noFill/>
        </p:spPr>
        <p:txBody>
          <a:bodyPr wrap="square">
            <a:spAutoFit/>
          </a:bodyPr>
          <a:lstStyle/>
          <a:p>
            <a:pPr algn="l"/>
            <a:r>
              <a:rPr sz="1200" b="0">
                <a:solidFill>
                  <a:srgbClr val="FFFFFF"/>
                </a:solidFill>
              </a:rPr>
              <a:t>Cloudflare Stream (video storage, encoding, playback)</a:t>
            </a:r>
          </a:p>
        </p:txBody>
      </p:sp>
      <p:sp>
        <p:nvSpPr>
          <p:cNvPr id="14" name="Rectangle 13"/>
          <p:cNvSpPr/>
          <p:nvPr/>
        </p:nvSpPr>
        <p:spPr>
          <a:xfrm>
            <a:off x="365760" y="2560320"/>
            <a:ext cx="5166360" cy="438912"/>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560320"/>
            <a:ext cx="36576" cy="438912"/>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2633472"/>
            <a:ext cx="4937760" cy="320040"/>
          </a:xfrm>
          <a:prstGeom prst="rect">
            <a:avLst/>
          </a:prstGeom>
          <a:noFill/>
        </p:spPr>
        <p:txBody>
          <a:bodyPr wrap="square">
            <a:spAutoFit/>
          </a:bodyPr>
          <a:lstStyle/>
          <a:p>
            <a:pPr algn="l"/>
            <a:r>
              <a:rPr sz="1200" b="0">
                <a:solidFill>
                  <a:srgbClr val="FFFFFF"/>
                </a:solidFill>
              </a:rPr>
              <a:t>Cloudflare Radar (internet traffic &amp; security trends)</a:t>
            </a:r>
          </a:p>
        </p:txBody>
      </p:sp>
      <p:sp>
        <p:nvSpPr>
          <p:cNvPr id="17" name="Rectangle 16"/>
          <p:cNvSpPr/>
          <p:nvPr/>
        </p:nvSpPr>
        <p:spPr>
          <a:xfrm>
            <a:off x="365760" y="3063240"/>
            <a:ext cx="5166360" cy="438912"/>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3063240"/>
            <a:ext cx="36576" cy="438912"/>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3136392"/>
            <a:ext cx="4937760" cy="320040"/>
          </a:xfrm>
          <a:prstGeom prst="rect">
            <a:avLst/>
          </a:prstGeom>
          <a:noFill/>
        </p:spPr>
        <p:txBody>
          <a:bodyPr wrap="square">
            <a:spAutoFit/>
          </a:bodyPr>
          <a:lstStyle/>
          <a:p>
            <a:pPr algn="l"/>
            <a:r>
              <a:rPr sz="1200" b="0">
                <a:solidFill>
                  <a:srgbClr val="FFFFFF"/>
                </a:solidFill>
              </a:rPr>
              <a:t>Public Interest Projects (e.g., Project Galileo)</a:t>
            </a:r>
          </a:p>
        </p:txBody>
      </p:sp>
      <p:sp>
        <p:nvSpPr>
          <p:cNvPr id="20" name="TextBox 19"/>
          <p:cNvSpPr txBox="1"/>
          <p:nvPr/>
        </p:nvSpPr>
        <p:spPr>
          <a:xfrm>
            <a:off x="365760" y="5074920"/>
            <a:ext cx="5303520" cy="274320"/>
          </a:xfrm>
          <a:prstGeom prst="rect">
            <a:avLst/>
          </a:prstGeom>
          <a:noFill/>
        </p:spPr>
        <p:txBody>
          <a:bodyPr wrap="square">
            <a:spAutoFit/>
          </a:bodyPr>
          <a:lstStyle/>
          <a:p>
            <a:pPr algn="l"/>
            <a:r>
              <a:rPr sz="900" b="1">
                <a:solidFill>
                  <a:srgbClr val="E05555"/>
                </a:solidFill>
              </a:rPr>
              <a:t>GAPS TO ADDRESS</a:t>
            </a:r>
          </a:p>
        </p:txBody>
      </p:sp>
      <p:sp>
        <p:nvSpPr>
          <p:cNvPr id="21" name="TextBox 20"/>
          <p:cNvSpPr txBox="1"/>
          <p:nvPr/>
        </p:nvSpPr>
        <p:spPr>
          <a:xfrm>
            <a:off x="365760" y="5349240"/>
            <a:ext cx="5303520" cy="1188720"/>
          </a:xfrm>
          <a:prstGeom prst="rect">
            <a:avLst/>
          </a:prstGeom>
          <a:noFill/>
        </p:spPr>
        <p:txBody>
          <a:bodyPr wrap="square">
            <a:spAutoFit/>
          </a:bodyPr>
          <a:lstStyle/>
          <a:p>
            <a:pPr>
              <a:spcBef>
                <a:spcPts val="400"/>
              </a:spcBef>
            </a:pPr>
            <a:r>
              <a:rPr sz="1100">
                <a:solidFill>
                  <a:srgbClr val="CCDDEE"/>
                </a:solidFill>
              </a:rPr>
              <a:t>• Add-on pricing for some core features (e.g., Load Balancing, Stream)</a:t>
            </a:r>
          </a:p>
          <a:p>
            <a:pPr>
              <a:spcBef>
                <a:spcPts val="400"/>
              </a:spcBef>
            </a:pPr>
            <a:r>
              <a:rPr sz="1100">
                <a:solidFill>
                  <a:srgbClr val="CCDDEE"/>
                </a:solidFill>
              </a:rPr>
              <a:t>• Less explicit focus on application development frameworks (compared to Vercel)</a:t>
            </a:r>
          </a:p>
        </p:txBody>
      </p:sp>
      <p:sp>
        <p:nvSpPr>
          <p:cNvPr id="22" name="TextBox 21"/>
          <p:cNvSpPr txBox="1"/>
          <p:nvPr/>
        </p:nvSpPr>
        <p:spPr>
          <a:xfrm>
            <a:off x="6400800" y="594360"/>
            <a:ext cx="5303520" cy="365760"/>
          </a:xfrm>
          <a:prstGeom prst="rect">
            <a:avLst/>
          </a:prstGeom>
          <a:noFill/>
        </p:spPr>
        <p:txBody>
          <a:bodyPr wrap="square">
            <a:spAutoFit/>
          </a:bodyPr>
          <a:lstStyle/>
          <a:p>
            <a:pPr algn="l"/>
            <a:r>
              <a:rPr sz="1400" b="1">
                <a:solidFill>
                  <a:srgbClr val="00A86B"/>
                </a:solidFill>
              </a:rPr>
              <a:t>ONLY IN VERCEL</a:t>
            </a:r>
          </a:p>
        </p:txBody>
      </p:sp>
      <p:sp>
        <p:nvSpPr>
          <p:cNvPr id="23" name="Rectangle 22"/>
          <p:cNvSpPr/>
          <p:nvPr/>
        </p:nvSpPr>
        <p:spPr>
          <a:xfrm>
            <a:off x="6400800" y="1051560"/>
            <a:ext cx="5166360" cy="438912"/>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1051560"/>
            <a:ext cx="36576" cy="438912"/>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1124712"/>
            <a:ext cx="4937760" cy="320040"/>
          </a:xfrm>
          <a:prstGeom prst="rect">
            <a:avLst/>
          </a:prstGeom>
          <a:noFill/>
        </p:spPr>
        <p:txBody>
          <a:bodyPr wrap="square">
            <a:spAutoFit/>
          </a:bodyPr>
          <a:lstStyle/>
          <a:p>
            <a:pPr algn="l"/>
            <a:r>
              <a:rPr sz="1200" b="0">
                <a:solidFill>
                  <a:srgbClr val="FFFFFF"/>
                </a:solidFill>
              </a:rPr>
              <a:t>AI Cloud &amp; Vercel Agent (dedicated AI features)</a:t>
            </a:r>
          </a:p>
        </p:txBody>
      </p:sp>
      <p:sp>
        <p:nvSpPr>
          <p:cNvPr id="26" name="Rectangle 25"/>
          <p:cNvSpPr/>
          <p:nvPr/>
        </p:nvSpPr>
        <p:spPr>
          <a:xfrm>
            <a:off x="6400800" y="1554480"/>
            <a:ext cx="5166360" cy="438912"/>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1554480"/>
            <a:ext cx="36576" cy="438912"/>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65392" y="1627632"/>
            <a:ext cx="4937760" cy="320040"/>
          </a:xfrm>
          <a:prstGeom prst="rect">
            <a:avLst/>
          </a:prstGeom>
          <a:noFill/>
        </p:spPr>
        <p:txBody>
          <a:bodyPr wrap="square">
            <a:spAutoFit/>
          </a:bodyPr>
          <a:lstStyle/>
          <a:p>
            <a:pPr algn="l"/>
            <a:r>
              <a:rPr sz="1200" b="0">
                <a:solidFill>
                  <a:srgbClr val="FFFFFF"/>
                </a:solidFill>
              </a:rPr>
              <a:t>Fluid Compute &amp; Vercel Functions (dynamic, scalable functions)</a:t>
            </a:r>
          </a:p>
        </p:txBody>
      </p:sp>
      <p:sp>
        <p:nvSpPr>
          <p:cNvPr id="29" name="Rectangle 28"/>
          <p:cNvSpPr/>
          <p:nvPr/>
        </p:nvSpPr>
        <p:spPr>
          <a:xfrm>
            <a:off x="6400800" y="2057400"/>
            <a:ext cx="5166360" cy="438912"/>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0" y="2057400"/>
            <a:ext cx="36576" cy="438912"/>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65392" y="2130552"/>
            <a:ext cx="4937760" cy="320040"/>
          </a:xfrm>
          <a:prstGeom prst="rect">
            <a:avLst/>
          </a:prstGeom>
          <a:noFill/>
        </p:spPr>
        <p:txBody>
          <a:bodyPr wrap="square">
            <a:spAutoFit/>
          </a:bodyPr>
          <a:lstStyle/>
          <a:p>
            <a:pPr algn="l"/>
            <a:r>
              <a:rPr sz="1200" b="0">
                <a:solidFill>
                  <a:srgbClr val="FFFFFF"/>
                </a:solidFill>
              </a:rPr>
              <a:t>CI/CD pipeline</a:t>
            </a:r>
          </a:p>
        </p:txBody>
      </p:sp>
      <p:sp>
        <p:nvSpPr>
          <p:cNvPr id="32" name="Rectangle 31"/>
          <p:cNvSpPr/>
          <p:nvPr/>
        </p:nvSpPr>
        <p:spPr>
          <a:xfrm>
            <a:off x="6400800" y="2560320"/>
            <a:ext cx="5166360" cy="438912"/>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2560320"/>
            <a:ext cx="36576" cy="438912"/>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65392" y="2633472"/>
            <a:ext cx="4937760" cy="320040"/>
          </a:xfrm>
          <a:prstGeom prst="rect">
            <a:avLst/>
          </a:prstGeom>
          <a:noFill/>
        </p:spPr>
        <p:txBody>
          <a:bodyPr wrap="square">
            <a:spAutoFit/>
          </a:bodyPr>
          <a:lstStyle/>
          <a:p>
            <a:pPr algn="l"/>
            <a:r>
              <a:rPr sz="1200" b="0">
                <a:solidFill>
                  <a:srgbClr val="FFFFFF"/>
                </a:solidFill>
              </a:rPr>
              <a:t>Feature Flags (Vercel Flags)</a:t>
            </a:r>
          </a:p>
        </p:txBody>
      </p:sp>
      <p:sp>
        <p:nvSpPr>
          <p:cNvPr id="35" name="Rectangle 34"/>
          <p:cNvSpPr/>
          <p:nvPr/>
        </p:nvSpPr>
        <p:spPr>
          <a:xfrm>
            <a:off x="6400800" y="3063240"/>
            <a:ext cx="5166360" cy="438912"/>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0" y="3063240"/>
            <a:ext cx="36576" cy="438912"/>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5392" y="3136392"/>
            <a:ext cx="4937760" cy="320040"/>
          </a:xfrm>
          <a:prstGeom prst="rect">
            <a:avLst/>
          </a:prstGeom>
          <a:noFill/>
        </p:spPr>
        <p:txBody>
          <a:bodyPr wrap="square">
            <a:spAutoFit/>
          </a:bodyPr>
          <a:lstStyle/>
          <a:p>
            <a:pPr algn="l"/>
            <a:r>
              <a:rPr sz="1200" b="0">
                <a:solidFill>
                  <a:srgbClr val="FFFFFF"/>
                </a:solidFill>
              </a:rPr>
              <a:t>Native Framework Support (e.g., Next.js, Nuxt)</a:t>
            </a:r>
          </a:p>
        </p:txBody>
      </p:sp>
      <p:sp>
        <p:nvSpPr>
          <p:cNvPr id="38" name="TextBox 37"/>
          <p:cNvSpPr txBox="1"/>
          <p:nvPr/>
        </p:nvSpPr>
        <p:spPr>
          <a:xfrm>
            <a:off x="6400800" y="5074920"/>
            <a:ext cx="5303520" cy="274320"/>
          </a:xfrm>
          <a:prstGeom prst="rect">
            <a:avLst/>
          </a:prstGeom>
          <a:noFill/>
        </p:spPr>
        <p:txBody>
          <a:bodyPr wrap="square">
            <a:spAutoFit/>
          </a:bodyPr>
          <a:lstStyle/>
          <a:p>
            <a:pPr algn="l"/>
            <a:r>
              <a:rPr sz="900" b="1">
                <a:solidFill>
                  <a:srgbClr val="E05555"/>
                </a:solidFill>
              </a:rPr>
              <a:t>GAPS TO ADDRESS</a:t>
            </a:r>
          </a:p>
        </p:txBody>
      </p:sp>
      <p:sp>
        <p:nvSpPr>
          <p:cNvPr id="39" name="TextBox 38"/>
          <p:cNvSpPr txBox="1"/>
          <p:nvPr/>
        </p:nvSpPr>
        <p:spPr>
          <a:xfrm>
            <a:off x="6400800" y="5349240"/>
            <a:ext cx="5303520" cy="1188720"/>
          </a:xfrm>
          <a:prstGeom prst="rect">
            <a:avLst/>
          </a:prstGeom>
          <a:noFill/>
        </p:spPr>
        <p:txBody>
          <a:bodyPr wrap="square">
            <a:spAutoFit/>
          </a:bodyPr>
          <a:lstStyle/>
          <a:p>
            <a:pPr>
              <a:spcBef>
                <a:spcPts val="400"/>
              </a:spcBef>
            </a:pPr>
            <a:r>
              <a:rPr sz="1100">
                <a:solidFill>
                  <a:srgbClr val="CCDDEE"/>
                </a:solidFill>
              </a:rPr>
              <a:t>• Pricing can become complex and usage-dependent beyond free/included tiers</a:t>
            </a:r>
          </a:p>
          <a:p>
            <a:pPr>
              <a:spcBef>
                <a:spcPts val="400"/>
              </a:spcBef>
            </a:pPr>
            <a:r>
              <a:rPr sz="1100">
                <a:solidFill>
                  <a:srgbClr val="CCDDEE"/>
                </a:solidFill>
              </a:rPr>
              <a:t>• Less emphasis on unmetered broad network security infrastructure compared to Cloudflare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502920"/>
            <a:ext cx="12191695" cy="36576"/>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365760"/>
          </a:xfrm>
          <a:prstGeom prst="rect">
            <a:avLst/>
          </a:prstGeom>
          <a:noFill/>
        </p:spPr>
        <p:txBody>
          <a:bodyPr wrap="square">
            <a:spAutoFit/>
          </a:bodyPr>
          <a:lstStyle/>
          <a:p>
            <a:pPr algn="l"/>
            <a:r>
              <a:rPr sz="1000" b="1">
                <a:solidFill>
                  <a:srgbClr val="00CCCC"/>
                </a:solidFill>
              </a:rPr>
              <a:t>GTM STRATEGY &amp; RECOMMENDATION</a:t>
            </a:r>
          </a:p>
        </p:txBody>
      </p:sp>
      <p:sp>
        <p:nvSpPr>
          <p:cNvPr id="4" name="Rectangle 3"/>
          <p:cNvSpPr/>
          <p:nvPr/>
        </p:nvSpPr>
        <p:spPr>
          <a:xfrm>
            <a:off x="365760" y="640080"/>
            <a:ext cx="5303520" cy="128016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40080"/>
            <a:ext cx="36576" cy="128016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13232"/>
            <a:ext cx="5029200" cy="274320"/>
          </a:xfrm>
          <a:prstGeom prst="rect">
            <a:avLst/>
          </a:prstGeom>
          <a:noFill/>
        </p:spPr>
        <p:txBody>
          <a:bodyPr wrap="square">
            <a:spAutoFit/>
          </a:bodyPr>
          <a:lstStyle/>
          <a:p>
            <a:pPr algn="l"/>
            <a:r>
              <a:rPr sz="900" b="1">
                <a:solidFill>
                  <a:srgbClr val="6688AA"/>
                </a:solidFill>
              </a:rPr>
              <a:t>PRICING VERDICT</a:t>
            </a:r>
          </a:p>
        </p:txBody>
      </p:sp>
      <p:sp>
        <p:nvSpPr>
          <p:cNvPr id="7" name="TextBox 6"/>
          <p:cNvSpPr txBox="1"/>
          <p:nvPr/>
        </p:nvSpPr>
        <p:spPr>
          <a:xfrm>
            <a:off x="548640" y="987552"/>
            <a:ext cx="5029200" cy="777240"/>
          </a:xfrm>
          <a:prstGeom prst="rect">
            <a:avLst/>
          </a:prstGeom>
          <a:noFill/>
        </p:spPr>
        <p:txBody>
          <a:bodyPr wrap="square">
            <a:spAutoFit/>
          </a:bodyPr>
          <a:lstStyle/>
          <a:p>
            <a:pPr algn="l"/>
            <a:r>
              <a:rPr sz="1300" b="0">
                <a:solidFill>
                  <a:srgbClr val="FFFFFF"/>
                </a:solidFill>
              </a:rPr>
              <a:t>Cloudflare primarily offers fixed-price tiers with explicit add-ons for specific advanced features, whereas Vercel combines a generous free tier with a usage-based model for its Pro plan, offering predictability through included resources.</a:t>
            </a:r>
          </a:p>
        </p:txBody>
      </p:sp>
      <p:sp>
        <p:nvSpPr>
          <p:cNvPr id="8" name="Rectangle 7"/>
          <p:cNvSpPr/>
          <p:nvPr/>
        </p:nvSpPr>
        <p:spPr>
          <a:xfrm>
            <a:off x="6400800" y="640080"/>
            <a:ext cx="5303520" cy="128016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640080"/>
            <a:ext cx="36576" cy="128016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713232"/>
            <a:ext cx="5029200" cy="274320"/>
          </a:xfrm>
          <a:prstGeom prst="rect">
            <a:avLst/>
          </a:prstGeom>
          <a:noFill/>
        </p:spPr>
        <p:txBody>
          <a:bodyPr wrap="square">
            <a:spAutoFit/>
          </a:bodyPr>
          <a:lstStyle/>
          <a:p>
            <a:pPr algn="l"/>
            <a:r>
              <a:rPr sz="900" b="1">
                <a:solidFill>
                  <a:srgbClr val="6688AA"/>
                </a:solidFill>
              </a:rPr>
              <a:t>POSITIONING VERDICT</a:t>
            </a:r>
          </a:p>
        </p:txBody>
      </p:sp>
      <p:sp>
        <p:nvSpPr>
          <p:cNvPr id="11" name="TextBox 10"/>
          <p:cNvSpPr txBox="1"/>
          <p:nvPr/>
        </p:nvSpPr>
        <p:spPr>
          <a:xfrm>
            <a:off x="6583680" y="987552"/>
            <a:ext cx="5029200" cy="777240"/>
          </a:xfrm>
          <a:prstGeom prst="rect">
            <a:avLst/>
          </a:prstGeom>
          <a:noFill/>
        </p:spPr>
        <p:txBody>
          <a:bodyPr wrap="square">
            <a:spAutoFit/>
          </a:bodyPr>
          <a:lstStyle/>
          <a:p>
            <a:pPr algn="l"/>
            <a:r>
              <a:rPr sz="1300" b="0">
                <a:solidFill>
                  <a:srgbClr val="FFFFFF"/>
                </a:solidFill>
              </a:rPr>
              <a:t>Cloudflare is positioned as a foundational internet infrastructure and security provider for global web properties, while Vercel targets frontend developers with a platform optimized for rapid application deployment, scaling, and AI integration.</a:t>
            </a:r>
          </a:p>
        </p:txBody>
      </p:sp>
      <p:sp>
        <p:nvSpPr>
          <p:cNvPr id="12" name="TextBox 11"/>
          <p:cNvSpPr txBox="1"/>
          <p:nvPr/>
        </p:nvSpPr>
        <p:spPr>
          <a:xfrm>
            <a:off x="548640" y="2103120"/>
            <a:ext cx="5486400" cy="320040"/>
          </a:xfrm>
          <a:prstGeom prst="rect">
            <a:avLst/>
          </a:prstGeom>
          <a:noFill/>
        </p:spPr>
        <p:txBody>
          <a:bodyPr wrap="square">
            <a:spAutoFit/>
          </a:bodyPr>
          <a:lstStyle/>
          <a:p>
            <a:pPr algn="l"/>
            <a:r>
              <a:rPr sz="900" b="1">
                <a:solidFill>
                  <a:srgbClr val="6688AA"/>
                </a:solidFill>
              </a:rPr>
              <a:t>KEY MESSAGES</a:t>
            </a:r>
          </a:p>
        </p:txBody>
      </p:sp>
      <p:sp>
        <p:nvSpPr>
          <p:cNvPr id="13" name="TextBox 12"/>
          <p:cNvSpPr txBox="1"/>
          <p:nvPr/>
        </p:nvSpPr>
        <p:spPr>
          <a:xfrm>
            <a:off x="365760" y="2423160"/>
            <a:ext cx="5486400" cy="1645920"/>
          </a:xfrm>
          <a:prstGeom prst="rect">
            <a:avLst/>
          </a:prstGeom>
          <a:noFill/>
        </p:spPr>
        <p:txBody>
          <a:bodyPr wrap="square">
            <a:spAutoFit/>
          </a:bodyPr>
          <a:lstStyle/>
          <a:p>
            <a:pPr>
              <a:spcBef>
                <a:spcPts val="400"/>
              </a:spcBef>
            </a:pPr>
            <a:r>
              <a:rPr sz="1300">
                <a:solidFill>
                  <a:srgbClr val="CCDDEE"/>
                </a:solidFill>
              </a:rPr>
              <a:t>• **Unified Platform, Predictable Outcomes:** Tired of stitching together fragmented infrastructure from Cloudflare or navigating unpredictable usage-based billing with Vercel? Our platform delivers enterprise-grade security and global performance with a developer-centric workflow and transparent, predictable pricing for modern application delivery.</a:t>
            </a:r>
          </a:p>
          <a:p>
            <a:pPr>
              <a:spcBef>
                <a:spcPts val="400"/>
              </a:spcBef>
            </a:pPr>
            <a:r>
              <a:rPr sz="1300">
                <a:solidFill>
                  <a:srgbClr val="CCDDEE"/>
                </a:solidFill>
              </a:rPr>
              <a:t>• **Beyond Frontend: Full-Stack Power with Integrated Security:** While Vercel excels at frontend velocity and Cloudflare provides robust network security, we offer the best of both worlds: blazing-fast full-stack application delivery, comprehensive security built-in, and a superior developer experience from code to global edge.</a:t>
            </a:r>
          </a:p>
          <a:p>
            <a:pPr>
              <a:spcBef>
                <a:spcPts val="400"/>
              </a:spcBef>
            </a:pPr>
            <a:r>
              <a:rPr sz="1300">
                <a:solidFill>
                  <a:srgbClr val="CCDDEE"/>
                </a:solidFill>
              </a:rPr>
              <a:t>• **Developer Velocity, Enterprise Control:** Empower your engineering teams with a platform that rivals Vercel's developer experience, while giving your enterprise the global reach, advanced security, and cost predictability often sought from Cloudflare, all without the operational overhead or hidden fees.</a:t>
            </a:r>
          </a:p>
        </p:txBody>
      </p:sp>
      <p:sp>
        <p:nvSpPr>
          <p:cNvPr id="14" name="TextBox 13"/>
          <p:cNvSpPr txBox="1"/>
          <p:nvPr/>
        </p:nvSpPr>
        <p:spPr>
          <a:xfrm>
            <a:off x="6400800" y="2103120"/>
            <a:ext cx="5486400" cy="320040"/>
          </a:xfrm>
          <a:prstGeom prst="rect">
            <a:avLst/>
          </a:prstGeom>
          <a:noFill/>
        </p:spPr>
        <p:txBody>
          <a:bodyPr wrap="square">
            <a:spAutoFit/>
          </a:bodyPr>
          <a:lstStyle/>
          <a:p>
            <a:pPr algn="l"/>
            <a:r>
              <a:rPr sz="900" b="1">
                <a:solidFill>
                  <a:srgbClr val="6688AA"/>
                </a:solidFill>
              </a:rPr>
              <a:t>OBJECTION HANDLING</a:t>
            </a:r>
          </a:p>
        </p:txBody>
      </p:sp>
      <p:sp>
        <p:nvSpPr>
          <p:cNvPr id="15" name="TextBox 14"/>
          <p:cNvSpPr txBox="1"/>
          <p:nvPr/>
        </p:nvSpPr>
        <p:spPr>
          <a:xfrm>
            <a:off x="6400800" y="2423160"/>
            <a:ext cx="5486400" cy="1645920"/>
          </a:xfrm>
          <a:prstGeom prst="rect">
            <a:avLst/>
          </a:prstGeom>
          <a:noFill/>
        </p:spPr>
        <p:txBody>
          <a:bodyPr wrap="square">
            <a:spAutoFit/>
          </a:bodyPr>
          <a:lstStyle/>
          <a:p>
            <a:pPr>
              <a:spcBef>
                <a:spcPts val="400"/>
              </a:spcBef>
            </a:pPr>
            <a:r>
              <a:rPr sz="1300">
                <a:solidFill>
                  <a:srgbClr val="CCDDEE"/>
                </a:solidFill>
              </a:rPr>
              <a:t>• **Objection:** 'Cloudflare offers more comprehensive network-level security and DDoS protection.'
**Rebuttal:** While Cloudflare provides deep infrastructure security, our platform focuses on **integrated, application-layer security (WAF, Bot, API Security)** delivered at the edge, offering faster, developer-friendly mitigation directly where your apps are deployed, simplifying management and reducing operational complexity.</a:t>
            </a:r>
          </a:p>
          <a:p>
            <a:pPr>
              <a:spcBef>
                <a:spcPts val="400"/>
              </a:spcBef>
            </a:pPr>
            <a:r>
              <a:rPr sz="1300">
                <a:solidFill>
                  <a:srgbClr val="CCDDEE"/>
                </a:solidFill>
              </a:rPr>
              <a:t>• **Objection:** 'Vercel is the gold standard for Next.js and developer velocity.'
**Rebuttal:** Vercel excels for Next.js, but our platform supports **all modern frameworks and diverse workloads**, providing a comparable or superior developer experience with **broader functionality and enterprise-grade security integrated by design**, not as an add-on.</a:t>
            </a:r>
          </a:p>
          <a:p>
            <a:pPr>
              <a:spcBef>
                <a:spcPts val="400"/>
              </a:spcBef>
            </a:pPr>
            <a:r>
              <a:rPr sz="1300">
                <a:solidFill>
                  <a:srgbClr val="CCDDEE"/>
                </a:solidFill>
              </a:rPr>
              <a:t>• **Objection:** 'Vercel's fluid compute model offers great flexibility for variable workloads.'
**Rebuttal:** Fluid compute *can* be flexible, but it often leads to **unpredictable and escalating costs at scale.** We offer a **hybrid, transparent pricing model** that provides both the necessary flexibility for dynamic applications and the essential cost predictability for enterprise budgeting.</a:t>
            </a:r>
          </a:p>
          <a:p>
            <a:pPr>
              <a:spcBef>
                <a:spcPts val="400"/>
              </a:spcBef>
            </a:pPr>
            <a:r>
              <a:rPr sz="1300">
                <a:solidFill>
                  <a:srgbClr val="CCDDEE"/>
                </a:solidFill>
              </a:rPr>
              <a:t>• **Objection:** 'Cloudflare's global network and specialized services like China Network Access are unmatched.'
**Rebuttal:** We provide **comparable global CDN and edge compute capabilities** for low latency worldwide. For specialized requirements like China, we offer **strategic partnerships and tailored configurations** that often provide more cost-effective and integrated solutions for specific business needs.</a:t>
            </a:r>
          </a:p>
        </p:txBody>
      </p:sp>
      <p:sp>
        <p:nvSpPr>
          <p:cNvPr id="16" name="Rectangle 15"/>
          <p:cNvSpPr/>
          <p:nvPr/>
        </p:nvSpPr>
        <p:spPr>
          <a:xfrm>
            <a:off x="0" y="4251960"/>
            <a:ext cx="12191695" cy="2377440"/>
          </a:xfrm>
          <a:prstGeom prst="rect">
            <a:avLst/>
          </a:prstGeom>
          <a:solidFill>
            <a:srgbClr val="0D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4251960"/>
            <a:ext cx="12191695" cy="4572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407408"/>
            <a:ext cx="10972800" cy="274320"/>
          </a:xfrm>
          <a:prstGeom prst="rect">
            <a:avLst/>
          </a:prstGeom>
          <a:noFill/>
        </p:spPr>
        <p:txBody>
          <a:bodyPr wrap="square">
            <a:spAutoFit/>
          </a:bodyPr>
          <a:lstStyle/>
          <a:p>
            <a:pPr algn="l"/>
            <a:r>
              <a:rPr sz="900" b="1">
                <a:solidFill>
                  <a:srgbClr val="00CCCC"/>
                </a:solidFill>
              </a:rPr>
              <a:t>RECOMMENDATION</a:t>
            </a:r>
          </a:p>
        </p:txBody>
      </p:sp>
      <p:sp>
        <p:nvSpPr>
          <p:cNvPr id="19" name="TextBox 18"/>
          <p:cNvSpPr txBox="1"/>
          <p:nvPr/>
        </p:nvSpPr>
        <p:spPr>
          <a:xfrm>
            <a:off x="548640" y="4709160"/>
            <a:ext cx="10972800" cy="1645920"/>
          </a:xfrm>
          <a:prstGeom prst="rect">
            <a:avLst/>
          </a:prstGeom>
          <a:noFill/>
        </p:spPr>
        <p:txBody>
          <a:bodyPr wrap="square">
            <a:spAutoFit/>
          </a:bodyPr>
          <a:lstStyle/>
          <a:p>
            <a:pPr algn="l"/>
            <a:r>
              <a:rPr sz="1500" b="0">
                <a:solidFill>
                  <a:srgbClr val="FFFFFF"/>
                </a:solidFill>
              </a:rPr>
              <a:t>Cloudflare should reinforce its unmatched global network edge and unmetered security benefits for all internet-facing assets, emphasizing reliability and cost predictability at scale. Vercel should continue to evangelize its developer experience, native framework integrations, and innovative AI capabilities to capture the modern application development market.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502920"/>
            <a:ext cx="12191695" cy="36576"/>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365760"/>
          </a:xfrm>
          <a:prstGeom prst="rect">
            <a:avLst/>
          </a:prstGeom>
          <a:noFill/>
        </p:spPr>
        <p:txBody>
          <a:bodyPr wrap="square">
            <a:spAutoFit/>
          </a:bodyPr>
          <a:lstStyle/>
          <a:p>
            <a:pPr algn="l"/>
            <a:r>
              <a:rPr sz="1000" b="1">
                <a:solidFill>
                  <a:srgbClr val="00CCCC"/>
                </a:solidFill>
              </a:rPr>
              <a:t>ACTION ITEMS</a:t>
            </a:r>
          </a:p>
        </p:txBody>
      </p:sp>
      <p:sp>
        <p:nvSpPr>
          <p:cNvPr id="4" name="Rectangle 3"/>
          <p:cNvSpPr/>
          <p:nvPr/>
        </p:nvSpPr>
        <p:spPr>
          <a:xfrm>
            <a:off x="365760" y="822960"/>
            <a:ext cx="5303520" cy="77724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822960"/>
            <a:ext cx="457200" cy="77724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987552"/>
            <a:ext cx="320040" cy="365760"/>
          </a:xfrm>
          <a:prstGeom prst="rect">
            <a:avLst/>
          </a:prstGeom>
          <a:noFill/>
        </p:spPr>
        <p:txBody>
          <a:bodyPr wrap="square">
            <a:spAutoFit/>
          </a:bodyPr>
          <a:lstStyle/>
          <a:p>
            <a:pPr algn="ctr"/>
            <a:r>
              <a:rPr sz="1400" b="1">
                <a:solidFill>
                  <a:srgbClr val="0A1628"/>
                </a:solidFill>
              </a:rPr>
              <a:t>1</a:t>
            </a:r>
          </a:p>
        </p:txBody>
      </p:sp>
      <p:sp>
        <p:nvSpPr>
          <p:cNvPr id="7" name="TextBox 6"/>
          <p:cNvSpPr txBox="1"/>
          <p:nvPr/>
        </p:nvSpPr>
        <p:spPr>
          <a:xfrm>
            <a:off x="914400" y="987552"/>
            <a:ext cx="4663440" cy="502920"/>
          </a:xfrm>
          <a:prstGeom prst="rect">
            <a:avLst/>
          </a:prstGeom>
          <a:noFill/>
        </p:spPr>
        <p:txBody>
          <a:bodyPr wrap="square">
            <a:spAutoFit/>
          </a:bodyPr>
          <a:lstStyle/>
          <a:p>
            <a:pPr algn="l"/>
            <a:r>
              <a:rPr sz="1200" b="0">
                <a:solidFill>
                  <a:srgbClr val="FFFFFF"/>
                </a:solidFill>
              </a:rPr>
              <a:t>**Develop Competitive Battlecards:** Create detailed internal battlecards for Cloudflare and Vercel, outlining their strengths, weaknesses, common customer profiles, and our specific differentiators for sales and marketing.</a:t>
            </a:r>
          </a:p>
        </p:txBody>
      </p:sp>
      <p:sp>
        <p:nvSpPr>
          <p:cNvPr id="8" name="Rectangle 7"/>
          <p:cNvSpPr/>
          <p:nvPr/>
        </p:nvSpPr>
        <p:spPr>
          <a:xfrm>
            <a:off x="365760" y="1719072"/>
            <a:ext cx="5303520" cy="77724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719072"/>
            <a:ext cx="457200" cy="77724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883664"/>
            <a:ext cx="320040" cy="365760"/>
          </a:xfrm>
          <a:prstGeom prst="rect">
            <a:avLst/>
          </a:prstGeom>
          <a:noFill/>
        </p:spPr>
        <p:txBody>
          <a:bodyPr wrap="square">
            <a:spAutoFit/>
          </a:bodyPr>
          <a:lstStyle/>
          <a:p>
            <a:pPr algn="ctr"/>
            <a:r>
              <a:rPr sz="1400" b="1">
                <a:solidFill>
                  <a:srgbClr val="0A1628"/>
                </a:solidFill>
              </a:rPr>
              <a:t>2</a:t>
            </a:r>
          </a:p>
        </p:txBody>
      </p:sp>
      <p:sp>
        <p:nvSpPr>
          <p:cNvPr id="11" name="TextBox 10"/>
          <p:cNvSpPr txBox="1"/>
          <p:nvPr/>
        </p:nvSpPr>
        <p:spPr>
          <a:xfrm>
            <a:off x="914400" y="1883664"/>
            <a:ext cx="4663440" cy="502920"/>
          </a:xfrm>
          <a:prstGeom prst="rect">
            <a:avLst/>
          </a:prstGeom>
          <a:noFill/>
        </p:spPr>
        <p:txBody>
          <a:bodyPr wrap="square">
            <a:spAutoFit/>
          </a:bodyPr>
          <a:lstStyle/>
          <a:p>
            <a:pPr algn="l"/>
            <a:r>
              <a:rPr sz="1200" b="0">
                <a:solidFill>
                  <a:srgbClr val="FFFFFF"/>
                </a:solidFill>
              </a:rPr>
              <a:t>**Refine Persona-Based Messaging:** Tailor key messages and objection handling for specific personas (e.g., Head of Engineering, CISO, CFO, Platform Engineer) to address their unique pain points related to security, cost, and developer experience.</a:t>
            </a:r>
          </a:p>
        </p:txBody>
      </p:sp>
      <p:sp>
        <p:nvSpPr>
          <p:cNvPr id="12" name="Rectangle 11"/>
          <p:cNvSpPr/>
          <p:nvPr/>
        </p:nvSpPr>
        <p:spPr>
          <a:xfrm>
            <a:off x="365760" y="2615184"/>
            <a:ext cx="5303520" cy="77724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615184"/>
            <a:ext cx="457200" cy="77724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2779776"/>
            <a:ext cx="320040" cy="365760"/>
          </a:xfrm>
          <a:prstGeom prst="rect">
            <a:avLst/>
          </a:prstGeom>
          <a:noFill/>
        </p:spPr>
        <p:txBody>
          <a:bodyPr wrap="square">
            <a:spAutoFit/>
          </a:bodyPr>
          <a:lstStyle/>
          <a:p>
            <a:pPr algn="ctr"/>
            <a:r>
              <a:rPr sz="1400" b="1">
                <a:solidFill>
                  <a:srgbClr val="0A1628"/>
                </a:solidFill>
              </a:rPr>
              <a:t>3</a:t>
            </a:r>
          </a:p>
        </p:txBody>
      </p:sp>
      <p:sp>
        <p:nvSpPr>
          <p:cNvPr id="15" name="TextBox 14"/>
          <p:cNvSpPr txBox="1"/>
          <p:nvPr/>
        </p:nvSpPr>
        <p:spPr>
          <a:xfrm>
            <a:off x="914400" y="2779776"/>
            <a:ext cx="4663440" cy="502920"/>
          </a:xfrm>
          <a:prstGeom prst="rect">
            <a:avLst/>
          </a:prstGeom>
          <a:noFill/>
        </p:spPr>
        <p:txBody>
          <a:bodyPr wrap="square">
            <a:spAutoFit/>
          </a:bodyPr>
          <a:lstStyle/>
          <a:p>
            <a:pPr algn="l"/>
            <a:r>
              <a:rPr sz="1200" b="0">
                <a:solidFill>
                  <a:srgbClr val="FFFFFF"/>
                </a:solidFill>
              </a:rPr>
              <a:t>**Create 'Why Us vs. X' Content Series:** Publish blog posts, whitepapers, comparison guides, and dedicated landing pages directly comparing our platform against Cloudflare (e.g., 'Beyond Cloudflare for Devs') and Vercel (e.g., 'Enterprise Security for the Modern Stack').</a:t>
            </a:r>
          </a:p>
        </p:txBody>
      </p:sp>
      <p:sp>
        <p:nvSpPr>
          <p:cNvPr id="16" name="Rectangle 15"/>
          <p:cNvSpPr/>
          <p:nvPr/>
        </p:nvSpPr>
        <p:spPr>
          <a:xfrm>
            <a:off x="365760" y="3511296"/>
            <a:ext cx="5303520" cy="77724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511296"/>
            <a:ext cx="457200" cy="77724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3675888"/>
            <a:ext cx="320040" cy="365760"/>
          </a:xfrm>
          <a:prstGeom prst="rect">
            <a:avLst/>
          </a:prstGeom>
          <a:noFill/>
        </p:spPr>
        <p:txBody>
          <a:bodyPr wrap="square">
            <a:spAutoFit/>
          </a:bodyPr>
          <a:lstStyle/>
          <a:p>
            <a:pPr algn="ctr"/>
            <a:r>
              <a:rPr sz="1400" b="1">
                <a:solidFill>
                  <a:srgbClr val="0A1628"/>
                </a:solidFill>
              </a:rPr>
              <a:t>4</a:t>
            </a:r>
          </a:p>
        </p:txBody>
      </p:sp>
      <p:sp>
        <p:nvSpPr>
          <p:cNvPr id="19" name="TextBox 18"/>
          <p:cNvSpPr txBox="1"/>
          <p:nvPr/>
        </p:nvSpPr>
        <p:spPr>
          <a:xfrm>
            <a:off x="914400" y="3675888"/>
            <a:ext cx="4663440" cy="502920"/>
          </a:xfrm>
          <a:prstGeom prst="rect">
            <a:avLst/>
          </a:prstGeom>
          <a:noFill/>
        </p:spPr>
        <p:txBody>
          <a:bodyPr wrap="square">
            <a:spAutoFit/>
          </a:bodyPr>
          <a:lstStyle/>
          <a:p>
            <a:pPr algn="l"/>
            <a:r>
              <a:rPr sz="1200" b="0">
                <a:solidFill>
                  <a:srgbClr val="FFFFFF"/>
                </a:solidFill>
              </a:rPr>
              <a:t>**Sales Enablement &amp; Training Program:** Conduct rigorous training sessions for the sales team on competitive positioning, how to identify Cloudflare/Vercel users, and effectively articulate our value proposition with confidence.</a:t>
            </a:r>
          </a:p>
        </p:txBody>
      </p:sp>
      <p:sp>
        <p:nvSpPr>
          <p:cNvPr id="20" name="Rectangle 19"/>
          <p:cNvSpPr/>
          <p:nvPr/>
        </p:nvSpPr>
        <p:spPr>
          <a:xfrm>
            <a:off x="365760" y="4407408"/>
            <a:ext cx="5303520" cy="77724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4407408"/>
            <a:ext cx="457200" cy="777240"/>
          </a:xfrm>
          <a:prstGeom prst="rect">
            <a:avLst/>
          </a:prstGeom>
          <a:solidFill>
            <a:srgbClr val="00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4572000"/>
            <a:ext cx="320040" cy="365760"/>
          </a:xfrm>
          <a:prstGeom prst="rect">
            <a:avLst/>
          </a:prstGeom>
          <a:noFill/>
        </p:spPr>
        <p:txBody>
          <a:bodyPr wrap="square">
            <a:spAutoFit/>
          </a:bodyPr>
          <a:lstStyle/>
          <a:p>
            <a:pPr algn="ctr"/>
            <a:r>
              <a:rPr sz="1400" b="1">
                <a:solidFill>
                  <a:srgbClr val="0A1628"/>
                </a:solidFill>
              </a:rPr>
              <a:t>5</a:t>
            </a:r>
          </a:p>
        </p:txBody>
      </p:sp>
      <p:sp>
        <p:nvSpPr>
          <p:cNvPr id="23" name="TextBox 22"/>
          <p:cNvSpPr txBox="1"/>
          <p:nvPr/>
        </p:nvSpPr>
        <p:spPr>
          <a:xfrm>
            <a:off x="914400" y="4572000"/>
            <a:ext cx="4663440" cy="502920"/>
          </a:xfrm>
          <a:prstGeom prst="rect">
            <a:avLst/>
          </a:prstGeom>
          <a:noFill/>
        </p:spPr>
        <p:txBody>
          <a:bodyPr wrap="square">
            <a:spAutoFit/>
          </a:bodyPr>
          <a:lstStyle/>
          <a:p>
            <a:pPr algn="l"/>
            <a:r>
              <a:rPr sz="1200" b="0">
                <a:solidFill>
                  <a:srgbClr val="FFFFFF"/>
                </a:solidFill>
              </a:rPr>
              <a:t>**Launch Targeted Digital Ad Campaigns:** Implement targeted ad campaigns (e.g., LinkedIn, Google Ads, developer forums) using competitor keywords, highlighting our unique selling propositions like 'Predictable App Delivery Costs' or 'Integrated Security for Dev Teams'.</a:t>
            </a:r>
          </a:p>
        </p:txBody>
      </p:sp>
      <p:sp>
        <p:nvSpPr>
          <p:cNvPr id="24" name="Rectangle 23"/>
          <p:cNvSpPr/>
          <p:nvPr/>
        </p:nvSpPr>
        <p:spPr>
          <a:xfrm>
            <a:off x="6400800" y="822960"/>
            <a:ext cx="5303520" cy="77724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822960"/>
            <a:ext cx="457200" cy="77724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987552"/>
            <a:ext cx="320040" cy="365760"/>
          </a:xfrm>
          <a:prstGeom prst="rect">
            <a:avLst/>
          </a:prstGeom>
          <a:noFill/>
        </p:spPr>
        <p:txBody>
          <a:bodyPr wrap="square">
            <a:spAutoFit/>
          </a:bodyPr>
          <a:lstStyle/>
          <a:p>
            <a:pPr algn="ctr"/>
            <a:r>
              <a:rPr sz="1400" b="1">
                <a:solidFill>
                  <a:srgbClr val="0A1628"/>
                </a:solidFill>
              </a:rPr>
              <a:t>6</a:t>
            </a:r>
          </a:p>
        </p:txBody>
      </p:sp>
      <p:sp>
        <p:nvSpPr>
          <p:cNvPr id="27" name="TextBox 26"/>
          <p:cNvSpPr txBox="1"/>
          <p:nvPr/>
        </p:nvSpPr>
        <p:spPr>
          <a:xfrm>
            <a:off x="6949440" y="987552"/>
            <a:ext cx="4663440" cy="502920"/>
          </a:xfrm>
          <a:prstGeom prst="rect">
            <a:avLst/>
          </a:prstGeom>
          <a:noFill/>
        </p:spPr>
        <p:txBody>
          <a:bodyPr wrap="square">
            <a:spAutoFit/>
          </a:bodyPr>
          <a:lstStyle/>
          <a:p>
            <a:pPr algn="l"/>
            <a:r>
              <a:rPr sz="1200" b="0">
                <a:solidFill>
                  <a:srgbClr val="FFFFFF"/>
                </a:solidFill>
              </a:rPr>
              <a:t>**Develop Migration Guides &amp; Incentives:** Create clear, easy-to-follow migration guides and potentially offer 'switching incentives' or dedicated support for customers looking to transition from Cloudflare or Vercel.</a:t>
            </a:r>
          </a:p>
        </p:txBody>
      </p:sp>
      <p:sp>
        <p:nvSpPr>
          <p:cNvPr id="28" name="Rectangle 27"/>
          <p:cNvSpPr/>
          <p:nvPr/>
        </p:nvSpPr>
        <p:spPr>
          <a:xfrm>
            <a:off x="6400800" y="1719072"/>
            <a:ext cx="5303520" cy="77724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1719072"/>
            <a:ext cx="457200" cy="77724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1883664"/>
            <a:ext cx="320040" cy="365760"/>
          </a:xfrm>
          <a:prstGeom prst="rect">
            <a:avLst/>
          </a:prstGeom>
          <a:noFill/>
        </p:spPr>
        <p:txBody>
          <a:bodyPr wrap="square">
            <a:spAutoFit/>
          </a:bodyPr>
          <a:lstStyle/>
          <a:p>
            <a:pPr algn="ctr"/>
            <a:r>
              <a:rPr sz="1400" b="1">
                <a:solidFill>
                  <a:srgbClr val="0A1628"/>
                </a:solidFill>
              </a:rPr>
              <a:t>7</a:t>
            </a:r>
          </a:p>
        </p:txBody>
      </p:sp>
      <p:sp>
        <p:nvSpPr>
          <p:cNvPr id="31" name="TextBox 30"/>
          <p:cNvSpPr txBox="1"/>
          <p:nvPr/>
        </p:nvSpPr>
        <p:spPr>
          <a:xfrm>
            <a:off x="6949440" y="1883664"/>
            <a:ext cx="4663440" cy="502920"/>
          </a:xfrm>
          <a:prstGeom prst="rect">
            <a:avLst/>
          </a:prstGeom>
          <a:noFill/>
        </p:spPr>
        <p:txBody>
          <a:bodyPr wrap="square">
            <a:spAutoFit/>
          </a:bodyPr>
          <a:lstStyle/>
          <a:p>
            <a:pPr algn="l"/>
            <a:r>
              <a:rPr sz="1200" b="0">
                <a:solidFill>
                  <a:srgbClr val="FFFFFF"/>
                </a:solidFill>
              </a:rPr>
              <a:t>**Host Competitive Webinars/Demos:** Organize live webinars or create on-demand video demos specifically showcasing how our platform addresses gaps left by Cloudflare (e.g., developer experience) or Vercel (e.g., enterprise security, cost predictability).</a:t>
            </a:r>
          </a:p>
        </p:txBody>
      </p:sp>
      <p:sp>
        <p:nvSpPr>
          <p:cNvPr id="32" name="Rectangle 31"/>
          <p:cNvSpPr/>
          <p:nvPr/>
        </p:nvSpPr>
        <p:spPr>
          <a:xfrm>
            <a:off x="6400800" y="2615184"/>
            <a:ext cx="5303520" cy="77724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2615184"/>
            <a:ext cx="457200" cy="77724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73952" y="2779776"/>
            <a:ext cx="320040" cy="365760"/>
          </a:xfrm>
          <a:prstGeom prst="rect">
            <a:avLst/>
          </a:prstGeom>
          <a:noFill/>
        </p:spPr>
        <p:txBody>
          <a:bodyPr wrap="square">
            <a:spAutoFit/>
          </a:bodyPr>
          <a:lstStyle/>
          <a:p>
            <a:pPr algn="ctr"/>
            <a:r>
              <a:rPr sz="1400" b="1">
                <a:solidFill>
                  <a:srgbClr val="0A1628"/>
                </a:solidFill>
              </a:rPr>
              <a:t>8</a:t>
            </a:r>
          </a:p>
        </p:txBody>
      </p:sp>
      <p:sp>
        <p:nvSpPr>
          <p:cNvPr id="35" name="TextBox 34"/>
          <p:cNvSpPr txBox="1"/>
          <p:nvPr/>
        </p:nvSpPr>
        <p:spPr>
          <a:xfrm>
            <a:off x="6949440" y="2779776"/>
            <a:ext cx="4663440" cy="502920"/>
          </a:xfrm>
          <a:prstGeom prst="rect">
            <a:avLst/>
          </a:prstGeom>
          <a:noFill/>
        </p:spPr>
        <p:txBody>
          <a:bodyPr wrap="square">
            <a:spAutoFit/>
          </a:bodyPr>
          <a:lstStyle/>
          <a:p>
            <a:pPr algn="l"/>
            <a:r>
              <a:rPr sz="1200" b="0">
                <a:solidFill>
                  <a:srgbClr val="FFFFFF"/>
                </a:solidFill>
              </a:rPr>
              <a:t>**Showcase Customer Success Stories:** Identify and promote case studies or testimonials from customers who previously used, or considered, Cloudflare/Vercel and achieved superior results (cost savings, faster delivery, improved security) with our platform.</a:t>
            </a:r>
          </a:p>
        </p:txBody>
      </p:sp>
      <p:sp>
        <p:nvSpPr>
          <p:cNvPr id="36" name="TextBox 35"/>
          <p:cNvSpPr txBox="1"/>
          <p:nvPr/>
        </p:nvSpPr>
        <p:spPr>
          <a:xfrm>
            <a:off x="0" y="6492240"/>
            <a:ext cx="12191695" cy="274320"/>
          </a:xfrm>
          <a:prstGeom prst="rect">
            <a:avLst/>
          </a:prstGeom>
          <a:noFill/>
        </p:spPr>
        <p:txBody>
          <a:bodyPr wrap="square">
            <a:spAutoFit/>
          </a:bodyPr>
          <a:lstStyle/>
          <a:p>
            <a:pPr algn="ctr"/>
            <a:r>
              <a:rPr sz="800" b="0">
                <a:solidFill>
                  <a:srgbClr val="6688AA"/>
                </a:solidFill>
              </a:rPr>
              <a:t>RIVA COMPETITIVE INTELLIGENCE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